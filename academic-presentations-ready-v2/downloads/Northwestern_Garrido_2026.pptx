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62" r:id="rId5"/>
    <p:sldId id="267" r:id="rId6"/>
    <p:sldId id="263" r:id="rId7"/>
    <p:sldId id="310" r:id="rId8"/>
    <p:sldId id="311" r:id="rId9"/>
    <p:sldId id="272" r:id="rId10"/>
    <p:sldId id="278" r:id="rId11"/>
    <p:sldId id="264" r:id="rId12"/>
    <p:sldId id="271" r:id="rId13"/>
    <p:sldId id="306" r:id="rId14"/>
    <p:sldId id="307" r:id="rId15"/>
    <p:sldId id="280" r:id="rId16"/>
    <p:sldId id="279" r:id="rId17"/>
    <p:sldId id="268" r:id="rId18"/>
    <p:sldId id="308" r:id="rId19"/>
    <p:sldId id="269" r:id="rId20"/>
    <p:sldId id="270" r:id="rId21"/>
    <p:sldId id="312" r:id="rId22"/>
    <p:sldId id="309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8"/>
    <p:restoredTop sz="94658"/>
  </p:normalViewPr>
  <p:slideViewPr>
    <p:cSldViewPr snapToGrid="0" snapToObjects="1">
      <p:cViewPr>
        <p:scale>
          <a:sx n="120" d="100"/>
          <a:sy n="120" d="100"/>
        </p:scale>
        <p:origin x="-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5656"/>
            <a:ext cx="7132320" cy="16154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6181" y="2169449"/>
            <a:ext cx="7773465" cy="104951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171A1D"/>
                </a:solidFill>
                <a:latin typeface="Aptos"/>
              </a:defRPr>
            </a:pPr>
            <a:r>
              <a:rPr lang="es-CL" sz="3200" dirty="0" err="1">
                <a:latin typeface="Garamond" panose="02020404030301010803" pitchFamily="18" charset="0"/>
              </a:rPr>
              <a:t>Limits</a:t>
            </a:r>
            <a:r>
              <a:rPr lang="es-CL" sz="3200" dirty="0">
                <a:latin typeface="Garamond" panose="02020404030301010803" pitchFamily="18" charset="0"/>
              </a:rPr>
              <a:t> </a:t>
            </a:r>
            <a:r>
              <a:rPr lang="es-CL" sz="3200" dirty="0" err="1">
                <a:latin typeface="Garamond" panose="02020404030301010803" pitchFamily="18" charset="0"/>
              </a:rPr>
              <a:t>of</a:t>
            </a:r>
            <a:r>
              <a:rPr lang="es-CL" sz="3200" dirty="0">
                <a:latin typeface="Garamond" panose="02020404030301010803" pitchFamily="18" charset="0"/>
              </a:rPr>
              <a:t> </a:t>
            </a:r>
            <a:r>
              <a:rPr lang="es-CL" sz="3200" dirty="0" err="1">
                <a:latin typeface="Garamond" panose="02020404030301010803" pitchFamily="18" charset="0"/>
              </a:rPr>
              <a:t>Prediction</a:t>
            </a:r>
            <a:r>
              <a:rPr lang="es-CL" sz="3200" dirty="0">
                <a:latin typeface="Garamond" panose="02020404030301010803" pitchFamily="18" charset="0"/>
              </a:rPr>
              <a:t> and </a:t>
            </a:r>
            <a:r>
              <a:rPr lang="es-CL" sz="3200" dirty="0" err="1">
                <a:latin typeface="Garamond" panose="02020404030301010803" pitchFamily="18" charset="0"/>
              </a:rPr>
              <a:t>the</a:t>
            </a:r>
            <a:r>
              <a:rPr lang="es-CL" sz="3200" dirty="0">
                <a:latin typeface="Garamond" panose="02020404030301010803" pitchFamily="18" charset="0"/>
              </a:rPr>
              <a:t> </a:t>
            </a:r>
            <a:r>
              <a:rPr lang="es-CL" sz="3200" dirty="0" err="1">
                <a:latin typeface="Garamond" panose="02020404030301010803" pitchFamily="18" charset="0"/>
              </a:rPr>
              <a:t>Value</a:t>
            </a:r>
            <a:r>
              <a:rPr lang="es-CL" sz="3200" dirty="0">
                <a:latin typeface="Garamond" panose="02020404030301010803" pitchFamily="18" charset="0"/>
              </a:rPr>
              <a:t> </a:t>
            </a:r>
            <a:r>
              <a:rPr lang="es-CL" sz="3200" dirty="0" err="1">
                <a:latin typeface="Garamond" panose="02020404030301010803" pitchFamily="18" charset="0"/>
              </a:rPr>
              <a:t>of</a:t>
            </a:r>
            <a:r>
              <a:rPr lang="es-CL" sz="3200" dirty="0">
                <a:latin typeface="Garamond" panose="02020404030301010803" pitchFamily="18" charset="0"/>
              </a:rPr>
              <a:t> </a:t>
            </a:r>
            <a:r>
              <a:rPr lang="es-CL" sz="3200" dirty="0" err="1">
                <a:latin typeface="Garamond" panose="02020404030301010803" pitchFamily="18" charset="0"/>
              </a:rPr>
              <a:t>Anticipation</a:t>
            </a:r>
            <a:r>
              <a:rPr lang="es-CL" sz="3200" dirty="0">
                <a:latin typeface="Garamond" panose="02020404030301010803" pitchFamily="18" charset="0"/>
              </a:rPr>
              <a:t> in </a:t>
            </a:r>
            <a:r>
              <a:rPr lang="es-CL" sz="3200" dirty="0" err="1">
                <a:latin typeface="Garamond" panose="02020404030301010803" pitchFamily="18" charset="0"/>
              </a:rPr>
              <a:t>Logistics</a:t>
            </a:r>
            <a:endParaRPr sz="3200" dirty="0">
              <a:latin typeface="Garamond" panose="020204040303010108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56181" y="3120779"/>
            <a:ext cx="7528917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B6285"/>
                </a:solidFill>
                <a:latin typeface="Aptos"/>
              </a:defRPr>
            </a:pPr>
            <a:r>
              <a:rPr sz="2200" dirty="0">
                <a:latin typeface="Garamond" panose="02020404030301010803" pitchFamily="18" charset="0"/>
              </a:rPr>
              <a:t>From flood emergency response to anticipative freight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647" y="4810222"/>
            <a:ext cx="8312534" cy="178818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71A1D"/>
                </a:solidFill>
                <a:latin typeface="Aptos"/>
              </a:defRPr>
            </a:pPr>
            <a:r>
              <a:rPr sz="2400" dirty="0">
                <a:solidFill>
                  <a:srgbClr val="C00000"/>
                </a:solidFill>
              </a:rPr>
              <a:t>Rodrigo A. Garrido  </a:t>
            </a:r>
            <a:r>
              <a:rPr sz="2400" dirty="0"/>
              <a:t>|  Universidad Adolfo Ibáñez</a:t>
            </a:r>
            <a:endParaRPr lang="es-ES" sz="2400" dirty="0"/>
          </a:p>
          <a:p>
            <a:pPr>
              <a:spcAft>
                <a:spcPts val="800"/>
              </a:spcAft>
              <a:defRPr sz="1500" b="0">
                <a:solidFill>
                  <a:srgbClr val="171A1D"/>
                </a:solidFill>
                <a:latin typeface="Aptos"/>
              </a:defRPr>
            </a:pPr>
            <a:endParaRPr lang="es-ES" sz="2400" dirty="0"/>
          </a:p>
          <a:p>
            <a:pPr>
              <a:spcAft>
                <a:spcPts val="800"/>
              </a:spcAft>
              <a:defRPr sz="1500" b="0">
                <a:solidFill>
                  <a:srgbClr val="171A1D"/>
                </a:solidFill>
                <a:latin typeface="Aptos"/>
              </a:defRPr>
            </a:pPr>
            <a:endParaRPr sz="2400" dirty="0"/>
          </a:p>
          <a:p>
            <a:pPr>
              <a:spcAft>
                <a:spcPts val="800"/>
              </a:spcAft>
              <a:defRPr sz="1500" b="0">
                <a:solidFill>
                  <a:srgbClr val="171A1D"/>
                </a:solidFill>
                <a:latin typeface="Aptos"/>
              </a:defRPr>
            </a:pPr>
            <a:r>
              <a:rPr sz="2000" dirty="0">
                <a:latin typeface="Garamond" panose="02020404030301010803" pitchFamily="18" charset="0"/>
              </a:rPr>
              <a:t>Northwestern University · Evanston / Chicago  •  October 2026</a:t>
            </a:r>
          </a:p>
        </p:txBody>
      </p:sp>
      <p:sp>
        <p:nvSpPr>
          <p:cNvPr id="7" name="Botón de acción: Película 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8C31CC24-2DC7-D635-902A-82ED6743A8FE}"/>
              </a:ext>
            </a:extLst>
          </p:cNvPr>
          <p:cNvSpPr/>
          <p:nvPr/>
        </p:nvSpPr>
        <p:spPr>
          <a:xfrm>
            <a:off x="8484781" y="5488527"/>
            <a:ext cx="871870" cy="637953"/>
          </a:xfrm>
          <a:prstGeom prst="actionButtonMov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Flood emergency logistics | The scientific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et al. (2015), DOI 10.1016/j.tre.2014.12.002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9B84D2-8872-DE70-BCE6-321BD0C1F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94498"/>
            <a:ext cx="9521456" cy="202725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41CAAF10-E248-911C-7A48-3C76EE7E613A}"/>
              </a:ext>
            </a:extLst>
          </p:cNvPr>
          <p:cNvGrpSpPr/>
          <p:nvPr/>
        </p:nvGrpSpPr>
        <p:grpSpPr>
          <a:xfrm>
            <a:off x="567566" y="3128933"/>
            <a:ext cx="5229730" cy="1424094"/>
            <a:chOff x="567566" y="3128933"/>
            <a:chExt cx="5229730" cy="1424094"/>
          </a:xfrm>
        </p:grpSpPr>
        <p:sp>
          <p:nvSpPr>
            <p:cNvPr id="10" name="TextBox 9"/>
            <p:cNvSpPr txBox="1"/>
            <p:nvPr/>
          </p:nvSpPr>
          <p:spPr>
            <a:xfrm>
              <a:off x="567566" y="3565064"/>
              <a:ext cx="5229730" cy="98796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dirty="0">
                  <a:latin typeface="Garamond" panose="02020404030301010803" pitchFamily="18" charset="0"/>
                </a:rPr>
                <a:t>How can </a:t>
              </a:r>
              <a:r>
                <a:rPr lang="es-CL" dirty="0" err="1">
                  <a:latin typeface="Garamond" panose="02020404030301010803" pitchFamily="18" charset="0"/>
                </a:rPr>
                <a:t>we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optimize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emergency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logistics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under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uncertain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flood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conditions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while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ensuring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reliable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demand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satisfaction</a:t>
              </a:r>
              <a:r>
                <a:rPr lang="es-CL" dirty="0">
                  <a:latin typeface="Garamond" panose="02020404030301010803" pitchFamily="18" charset="0"/>
                </a:rPr>
                <a:t>?</a:t>
              </a:r>
              <a:endParaRPr dirty="0">
                <a:latin typeface="Garamond" panose="02020404030301010803" pitchFamily="18" charset="0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1D02771D-709B-324D-8C6A-7F82936020ED}"/>
                </a:ext>
              </a:extLst>
            </p:cNvPr>
            <p:cNvGrpSpPr/>
            <p:nvPr/>
          </p:nvGrpSpPr>
          <p:grpSpPr>
            <a:xfrm>
              <a:off x="594360" y="3128933"/>
              <a:ext cx="4956048" cy="393192"/>
              <a:chOff x="914400" y="1554480"/>
              <a:chExt cx="4956048" cy="393192"/>
            </a:xfrm>
          </p:grpSpPr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DEEF8827-2C9C-7357-0C83-DC5E43122EAE}"/>
                  </a:ext>
                </a:extLst>
              </p:cNvPr>
              <p:cNvSpPr/>
              <p:nvPr/>
            </p:nvSpPr>
            <p:spPr>
              <a:xfrm>
                <a:off x="914400" y="1554480"/>
                <a:ext cx="4956048" cy="393192"/>
              </a:xfrm>
              <a:prstGeom prst="rect">
                <a:avLst/>
              </a:prstGeom>
              <a:solidFill>
                <a:srgbClr val="1B628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8">
                <a:extLst>
                  <a:ext uri="{FF2B5EF4-FFF2-40B4-BE49-F238E27FC236}">
                    <a16:creationId xmlns:a16="http://schemas.microsoft.com/office/drawing/2014/main" id="{20033E65-A475-A34E-B13D-75CB739D5A9C}"/>
                  </a:ext>
                </a:extLst>
              </p:cNvPr>
              <p:cNvSpPr txBox="1"/>
              <p:nvPr/>
            </p:nvSpPr>
            <p:spPr>
              <a:xfrm>
                <a:off x="1024128" y="1591056"/>
                <a:ext cx="4663440" cy="274320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800"/>
                  </a:spcAft>
                  <a:defRPr sz="1300" b="1">
                    <a:solidFill>
                      <a:srgbClr val="FFFFFF"/>
                    </a:solidFill>
                    <a:latin typeface="Aptos"/>
                  </a:defRPr>
                </a:pPr>
                <a:r>
                  <a:t>RESEARCH QUESTION</a:t>
                </a:r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D94E985-6F62-B162-CD0F-DC8E46F40404}"/>
              </a:ext>
            </a:extLst>
          </p:cNvPr>
          <p:cNvGrpSpPr/>
          <p:nvPr/>
        </p:nvGrpSpPr>
        <p:grpSpPr>
          <a:xfrm>
            <a:off x="5735628" y="3560107"/>
            <a:ext cx="5451418" cy="1996708"/>
            <a:chOff x="5735628" y="3560107"/>
            <a:chExt cx="5451418" cy="1996708"/>
          </a:xfrm>
        </p:grpSpPr>
        <p:sp>
          <p:nvSpPr>
            <p:cNvPr id="13" name="TextBox 12"/>
            <p:cNvSpPr txBox="1"/>
            <p:nvPr/>
          </p:nvSpPr>
          <p:spPr>
            <a:xfrm>
              <a:off x="5797296" y="3953299"/>
              <a:ext cx="5389750" cy="1603516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>
              <a:defPPr>
                <a:defRPr lang="en-US"/>
              </a:defPPr>
              <a:lvl1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Garamond" panose="02020404030301010803" pitchFamily="18" charset="0"/>
                </a:defRPr>
              </a:lvl1pPr>
            </a:lstStyle>
            <a:p>
              <a:r>
                <a:rPr lang="es-CL" dirty="0"/>
                <a:t>A </a:t>
              </a:r>
              <a:r>
                <a:rPr lang="es-CL" b="1" dirty="0"/>
                <a:t>chance-</a:t>
              </a:r>
              <a:r>
                <a:rPr lang="es-CL" b="1" dirty="0" err="1"/>
                <a:t>constrained</a:t>
              </a:r>
              <a:r>
                <a:rPr lang="es-CL" b="1" dirty="0"/>
                <a:t> </a:t>
              </a:r>
              <a:r>
                <a:rPr lang="es-CL" b="1" dirty="0" err="1"/>
                <a:t>stochastic</a:t>
              </a:r>
              <a:r>
                <a:rPr lang="es-CL" b="1" dirty="0"/>
                <a:t> </a:t>
              </a:r>
              <a:r>
                <a:rPr lang="es-CL" b="1" dirty="0" err="1"/>
                <a:t>optimization</a:t>
              </a:r>
              <a:r>
                <a:rPr lang="es-CL" b="1" dirty="0"/>
                <a:t> </a:t>
              </a:r>
              <a:r>
                <a:rPr lang="es-CL" b="1" dirty="0" err="1"/>
                <a:t>model</a:t>
              </a:r>
              <a:r>
                <a:rPr lang="es-CL" dirty="0"/>
                <a:t>, </a:t>
              </a:r>
              <a:r>
                <a:rPr lang="es-CL" dirty="0" err="1"/>
                <a:t>combining</a:t>
              </a:r>
              <a:r>
                <a:rPr lang="es-CL" dirty="0"/>
                <a:t> </a:t>
              </a:r>
              <a:r>
                <a:rPr lang="es-CL" dirty="0" err="1"/>
                <a:t>three</a:t>
              </a:r>
              <a:r>
                <a:rPr lang="es-CL" dirty="0"/>
                <a:t> </a:t>
              </a:r>
              <a:r>
                <a:rPr lang="es-CL" dirty="0" err="1"/>
                <a:t>components</a:t>
              </a:r>
              <a:r>
                <a:rPr lang="es-CL" dirty="0"/>
                <a:t>: a </a:t>
              </a:r>
              <a:r>
                <a:rPr lang="es-CL" dirty="0" err="1"/>
                <a:t>stochastic</a:t>
              </a:r>
              <a:r>
                <a:rPr lang="es-CL" dirty="0"/>
                <a:t> </a:t>
              </a:r>
              <a:r>
                <a:rPr lang="es-CL" dirty="0" err="1"/>
                <a:t>flood-demand</a:t>
              </a:r>
              <a:r>
                <a:rPr lang="es-CL" dirty="0"/>
                <a:t> </a:t>
              </a:r>
              <a:r>
                <a:rPr lang="es-CL" dirty="0" err="1"/>
                <a:t>process</a:t>
              </a:r>
              <a:r>
                <a:rPr lang="es-CL" dirty="0"/>
                <a:t>, a multi-</a:t>
              </a:r>
              <a:r>
                <a:rPr lang="es-CL" dirty="0" err="1"/>
                <a:t>period</a:t>
              </a:r>
              <a:r>
                <a:rPr lang="es-CL" dirty="0"/>
                <a:t> </a:t>
              </a:r>
              <a:r>
                <a:rPr lang="es-CL" dirty="0" err="1"/>
                <a:t>emergency</a:t>
              </a:r>
              <a:r>
                <a:rPr lang="es-CL" dirty="0"/>
                <a:t> </a:t>
              </a:r>
              <a:r>
                <a:rPr lang="es-CL" dirty="0" err="1"/>
                <a:t>logistics</a:t>
              </a:r>
              <a:r>
                <a:rPr lang="es-CL" dirty="0"/>
                <a:t> </a:t>
              </a:r>
              <a:r>
                <a:rPr lang="es-CL" dirty="0" err="1"/>
                <a:t>network</a:t>
              </a:r>
              <a:r>
                <a:rPr lang="es-CL" dirty="0"/>
                <a:t>, and a </a:t>
              </a:r>
              <a:r>
                <a:rPr lang="es-CL" dirty="0" err="1"/>
                <a:t>sample</a:t>
              </a:r>
              <a:r>
                <a:rPr lang="es-CL" dirty="0"/>
                <a:t> </a:t>
              </a:r>
              <a:r>
                <a:rPr lang="es-CL" dirty="0" err="1"/>
                <a:t>average</a:t>
              </a:r>
              <a:r>
                <a:rPr lang="es-CL" dirty="0"/>
                <a:t> </a:t>
              </a:r>
              <a:r>
                <a:rPr lang="es-CL" dirty="0" err="1"/>
                <a:t>approximation</a:t>
              </a:r>
              <a:r>
                <a:rPr lang="es-CL" dirty="0"/>
                <a:t> (</a:t>
              </a:r>
              <a:r>
                <a:rPr lang="es-CL" b="1" dirty="0"/>
                <a:t>SAA</a:t>
              </a:r>
              <a:r>
                <a:rPr lang="es-CL" dirty="0"/>
                <a:t>) </a:t>
              </a:r>
              <a:r>
                <a:rPr lang="es-CL" dirty="0" err="1"/>
                <a:t>solution</a:t>
              </a:r>
              <a:r>
                <a:rPr lang="es-CL" dirty="0"/>
                <a:t> </a:t>
              </a:r>
              <a:r>
                <a:rPr lang="es-CL" dirty="0" err="1"/>
                <a:t>procedure</a:t>
              </a:r>
              <a:r>
                <a:rPr lang="es-CL" dirty="0"/>
                <a:t>.</a:t>
              </a:r>
              <a:endParaRPr dirty="0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3FE5CAE0-B283-46E2-3D40-F68A23BA0069}"/>
                </a:ext>
              </a:extLst>
            </p:cNvPr>
            <p:cNvGrpSpPr/>
            <p:nvPr/>
          </p:nvGrpSpPr>
          <p:grpSpPr>
            <a:xfrm>
              <a:off x="5735628" y="3560107"/>
              <a:ext cx="5312663" cy="393192"/>
              <a:chOff x="6263640" y="1554480"/>
              <a:chExt cx="4956048" cy="393192"/>
            </a:xfrm>
          </p:grpSpPr>
          <p:sp>
            <p:nvSpPr>
              <p:cNvPr id="24" name="Rectangle 10">
                <a:extLst>
                  <a:ext uri="{FF2B5EF4-FFF2-40B4-BE49-F238E27FC236}">
                    <a16:creationId xmlns:a16="http://schemas.microsoft.com/office/drawing/2014/main" id="{7CF8A5D6-1E59-C4E3-F5D4-A3A0BFC7E299}"/>
                  </a:ext>
                </a:extLst>
              </p:cNvPr>
              <p:cNvSpPr/>
              <p:nvPr/>
            </p:nvSpPr>
            <p:spPr>
              <a:xfrm>
                <a:off x="6263640" y="1554480"/>
                <a:ext cx="4956048" cy="393192"/>
              </a:xfrm>
              <a:prstGeom prst="rect">
                <a:avLst/>
              </a:prstGeom>
              <a:solidFill>
                <a:srgbClr val="1B628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11">
                <a:extLst>
                  <a:ext uri="{FF2B5EF4-FFF2-40B4-BE49-F238E27FC236}">
                    <a16:creationId xmlns:a16="http://schemas.microsoft.com/office/drawing/2014/main" id="{11B33DD3-8EDA-C951-468E-43F6C0B23EE6}"/>
                  </a:ext>
                </a:extLst>
              </p:cNvPr>
              <p:cNvSpPr txBox="1"/>
              <p:nvPr/>
            </p:nvSpPr>
            <p:spPr>
              <a:xfrm>
                <a:off x="6373368" y="1591056"/>
                <a:ext cx="4663440" cy="274320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800"/>
                  </a:spcAft>
                  <a:defRPr sz="1300" b="1">
                    <a:solidFill>
                      <a:srgbClr val="FFFFFF"/>
                    </a:solidFill>
                    <a:latin typeface="Aptos"/>
                  </a:defRPr>
                </a:pPr>
                <a:r>
                  <a:t>METHODOLOGY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15C1-8E7D-C8A4-8B4A-F0A78F69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73715-0DB2-119A-F81F-AE23D15A7660}"/>
              </a:ext>
            </a:extLst>
          </p:cNvPr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9B4E5-836D-6567-FEEB-D41CD58D8AA9}"/>
              </a:ext>
            </a:extLst>
          </p:cNvPr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Flood emergency logistics | The scientific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B06E5-FED0-64F8-9DE1-2F192BEE26E1}"/>
              </a:ext>
            </a:extLst>
          </p:cNvPr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B9677-4299-419A-5BEC-4C178FBC141D}"/>
              </a:ext>
            </a:extLst>
          </p:cNvPr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et al. (2015), DOI 10.1016/j.tre.2014.12.002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6F626-E815-B261-85F4-1143797D6D43}"/>
              </a:ext>
            </a:extLst>
          </p:cNvPr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03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E2D8EDE-41B1-C1E9-247C-EF19714E8715}"/>
              </a:ext>
            </a:extLst>
          </p:cNvPr>
          <p:cNvGrpSpPr/>
          <p:nvPr/>
        </p:nvGrpSpPr>
        <p:grpSpPr>
          <a:xfrm>
            <a:off x="3108960" y="2188223"/>
            <a:ext cx="6181344" cy="1027546"/>
            <a:chOff x="3510151" y="1405576"/>
            <a:chExt cx="6181344" cy="1027546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2C427F80-9112-FB2A-2F28-1F1380529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10151" y="1405576"/>
              <a:ext cx="6181344" cy="584064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D8899D5-C00A-3EA1-C048-BC5BBAAFC602}"/>
                </a:ext>
              </a:extLst>
            </p:cNvPr>
            <p:cNvSpPr txBox="1"/>
            <p:nvPr/>
          </p:nvSpPr>
          <p:spPr>
            <a:xfrm>
              <a:off x="4883245" y="2063790"/>
              <a:ext cx="25337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dirty="0">
                  <a:latin typeface="Garamond" panose="02020404030301010803" pitchFamily="18" charset="0"/>
                </a:rPr>
                <a:t>S. T</a:t>
              </a:r>
              <a:r>
                <a:rPr lang="es-CL" dirty="0">
                  <a:latin typeface="Garamond" panose="02020404030301010803" pitchFamily="18" charset="0"/>
                </a:rPr>
                <a:t>: standard </a:t>
              </a:r>
              <a:r>
                <a:rPr lang="es-CL" dirty="0" err="1">
                  <a:latin typeface="Garamond" panose="02020404030301010803" pitchFamily="18" charset="0"/>
                </a:rPr>
                <a:t>constraints</a:t>
              </a:r>
              <a:r>
                <a:rPr lang="es-CL" sz="1600" dirty="0">
                  <a:latin typeface="Garamond" panose="02020404030301010803" pitchFamily="18" charset="0"/>
                </a:rPr>
                <a:t>.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730BF92F-A21B-DEC9-9A27-84CCB6A04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328" y="3343082"/>
            <a:ext cx="3633935" cy="83317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D354ED0C-A17D-6184-D6ED-3202A4F5E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067" y="1028771"/>
            <a:ext cx="6956458" cy="828692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39771257-83E5-1533-72BB-7EBC44544AE7}"/>
              </a:ext>
            </a:extLst>
          </p:cNvPr>
          <p:cNvGrpSpPr/>
          <p:nvPr/>
        </p:nvGrpSpPr>
        <p:grpSpPr>
          <a:xfrm>
            <a:off x="5748907" y="4409215"/>
            <a:ext cx="4574137" cy="1786712"/>
            <a:chOff x="5138112" y="4290490"/>
            <a:chExt cx="4574137" cy="1786712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94C05EA-2FEF-5270-6CFB-7EA75C1499B5}"/>
                </a:ext>
              </a:extLst>
            </p:cNvPr>
            <p:cNvGrpSpPr/>
            <p:nvPr/>
          </p:nvGrpSpPr>
          <p:grpSpPr>
            <a:xfrm>
              <a:off x="5138112" y="4736237"/>
              <a:ext cx="3833317" cy="1340965"/>
              <a:chOff x="3192571" y="4059252"/>
              <a:chExt cx="3833317" cy="1340965"/>
            </a:xfrm>
          </p:grpSpPr>
          <p:pic>
            <p:nvPicPr>
              <p:cNvPr id="10" name="Imagen 9">
                <a:extLst>
                  <a:ext uri="{FF2B5EF4-FFF2-40B4-BE49-F238E27FC236}">
                    <a16:creationId xmlns:a16="http://schemas.microsoft.com/office/drawing/2014/main" id="{A9E454C7-5921-6678-C8BF-603C378325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2571" y="4730697"/>
                <a:ext cx="1830720" cy="669520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EB167D10-7AA4-6AA4-083E-91FD08ADA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1953" y="4059252"/>
                <a:ext cx="3633935" cy="595030"/>
              </a:xfrm>
              <a:prstGeom prst="rect">
                <a:avLst/>
              </a:prstGeom>
            </p:spPr>
          </p:pic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DF9B126-8D7C-115F-1568-70773991CF7A}"/>
                </a:ext>
              </a:extLst>
            </p:cNvPr>
            <p:cNvSpPr txBox="1"/>
            <p:nvPr/>
          </p:nvSpPr>
          <p:spPr>
            <a:xfrm>
              <a:off x="5138112" y="4290490"/>
              <a:ext cx="4574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 err="1">
                  <a:latin typeface="Garamond" panose="02020404030301010803" pitchFamily="18" charset="0"/>
                </a:rPr>
                <a:t>Solving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with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b="1" dirty="0">
                  <a:latin typeface="Garamond" panose="02020404030301010803" pitchFamily="18" charset="0"/>
                </a:rPr>
                <a:t>Sample </a:t>
              </a:r>
              <a:r>
                <a:rPr lang="es-CL" b="1" dirty="0" err="1">
                  <a:latin typeface="Garamond" panose="02020404030301010803" pitchFamily="18" charset="0"/>
                </a:rPr>
                <a:t>Average</a:t>
              </a:r>
              <a:r>
                <a:rPr lang="es-CL" b="1" dirty="0">
                  <a:latin typeface="Garamond" panose="02020404030301010803" pitchFamily="18" charset="0"/>
                </a:rPr>
                <a:t> </a:t>
              </a:r>
              <a:r>
                <a:rPr lang="es-CL" b="1" dirty="0" err="1">
                  <a:latin typeface="Garamond" panose="02020404030301010803" pitchFamily="18" charset="0"/>
                </a:rPr>
                <a:t>Approximation</a:t>
              </a:r>
              <a:r>
                <a:rPr lang="es-CL" b="1" dirty="0">
                  <a:latin typeface="Garamond" panose="02020404030301010803" pitchFamily="18" charset="0"/>
                </a:rPr>
                <a:t>: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endParaRPr lang="es-CL" sz="1600" dirty="0">
                <a:latin typeface="Garamond" panose="020204040303010108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265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Floods | What determines the cost of readiness?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t>Sensitivity analysis in the original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et al. (2015), Table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600200"/>
            <a:ext cx="91440" cy="91440"/>
          </a:xfrm>
          <a:prstGeom prst="rect">
            <a:avLst/>
          </a:prstGeom>
          <a:solidFill>
            <a:srgbClr val="D6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9875520" cy="3877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1A1D"/>
                </a:solidFill>
                <a:latin typeface="Aptos"/>
              </a:defRPr>
            </a:pPr>
            <a:r>
              <a:rPr dirty="0">
                <a:latin typeface="Garamond" panose="02020404030301010803" pitchFamily="18" charset="0"/>
              </a:rPr>
              <a:t>The number of products and planning periods strongly changes generalized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450592"/>
            <a:ext cx="91440" cy="91440"/>
          </a:xfrm>
          <a:prstGeom prst="rect">
            <a:avLst/>
          </a:prstGeom>
          <a:solidFill>
            <a:srgbClr val="D6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359152"/>
            <a:ext cx="9875520" cy="7498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2100" b="0">
                <a:solidFill>
                  <a:srgbClr val="171A1D"/>
                </a:solidFill>
                <a:latin typeface="Garamond" panose="02020404030301010803" pitchFamily="18" charset="0"/>
              </a:defRPr>
            </a:lvl1pPr>
          </a:lstStyle>
          <a:p>
            <a:r>
              <a:rPr dirty="0"/>
              <a:t>Raising the required demand-satisfaction level becomes increasingly expensive.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300984"/>
            <a:ext cx="91440" cy="91440"/>
          </a:xfrm>
          <a:prstGeom prst="rect">
            <a:avLst/>
          </a:prstGeom>
          <a:solidFill>
            <a:srgbClr val="D6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209544"/>
            <a:ext cx="9875520" cy="7498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2100" b="0">
                <a:solidFill>
                  <a:srgbClr val="171A1D"/>
                </a:solidFill>
                <a:latin typeface="Garamond" panose="02020404030301010803" pitchFamily="18" charset="0"/>
              </a:defRPr>
            </a:lvl1pPr>
          </a:lstStyle>
          <a:p>
            <a:r>
              <a:rPr dirty="0"/>
              <a:t>Inventory capacity and product mix matter for feasible emergency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495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rPr lang="es-CL" dirty="0"/>
              <a:t>Why Study </a:t>
            </a:r>
            <a:r>
              <a:rPr lang="es-CL" dirty="0" err="1"/>
              <a:t>Predictability</a:t>
            </a:r>
            <a:r>
              <a:rPr lang="es-CL" dirty="0"/>
              <a:t> in Dynamic </a:t>
            </a:r>
            <a:r>
              <a:rPr lang="es-CL" dirty="0" err="1"/>
              <a:t>Systems</a:t>
            </a:r>
            <a:r>
              <a:rPr lang="es-CL" dirty="0"/>
              <a:t>?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(2026), working manuscript, October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1" name="CuadroTexto 20">
            <a:hlinkClick r:id="rId2" action="ppaction://hlinksldjump"/>
            <a:extLst>
              <a:ext uri="{FF2B5EF4-FFF2-40B4-BE49-F238E27FC236}">
                <a16:creationId xmlns:a16="http://schemas.microsoft.com/office/drawing/2014/main" id="{743AA513-3935-1A61-137C-4FC74EEFD0E3}"/>
              </a:ext>
            </a:extLst>
          </p:cNvPr>
          <p:cNvSpPr txBox="1"/>
          <p:nvPr/>
        </p:nvSpPr>
        <p:spPr>
          <a:xfrm>
            <a:off x="1847497" y="1367163"/>
            <a:ext cx="7899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 err="1">
                <a:latin typeface="Garamond" panose="02020404030301010803" pitchFamily="18" charset="0"/>
              </a:rPr>
              <a:t>An</a:t>
            </a:r>
            <a:r>
              <a:rPr lang="es-CL" sz="2800" dirty="0">
                <a:latin typeface="Garamond" panose="02020404030301010803" pitchFamily="18" charset="0"/>
              </a:rPr>
              <a:t> </a:t>
            </a:r>
            <a:r>
              <a:rPr lang="es-CL" sz="2800" dirty="0" err="1">
                <a:latin typeface="Garamond" panose="02020404030301010803" pitchFamily="18" charset="0"/>
              </a:rPr>
              <a:t>example</a:t>
            </a:r>
            <a:r>
              <a:rPr lang="es-CL" sz="2800" dirty="0">
                <a:latin typeface="Garamond" panose="02020404030301010803" pitchFamily="18" charset="0"/>
              </a:rPr>
              <a:t> </a:t>
            </a:r>
            <a:r>
              <a:rPr lang="es-CL" sz="2800" dirty="0" err="1">
                <a:latin typeface="Garamond" panose="02020404030301010803" pitchFamily="18" charset="0"/>
              </a:rPr>
              <a:t>of</a:t>
            </a:r>
            <a:r>
              <a:rPr lang="es-CL" sz="2800" dirty="0">
                <a:latin typeface="Garamond" panose="02020404030301010803" pitchFamily="18" charset="0"/>
              </a:rPr>
              <a:t> a </a:t>
            </a:r>
            <a:r>
              <a:rPr lang="es-CL" sz="2800" dirty="0" err="1">
                <a:latin typeface="Garamond" panose="02020404030301010803" pitchFamily="18" charset="0"/>
              </a:rPr>
              <a:t>typical</a:t>
            </a:r>
            <a:r>
              <a:rPr lang="es-CL" sz="2800" dirty="0">
                <a:latin typeface="Garamond" panose="02020404030301010803" pitchFamily="18" charset="0"/>
              </a:rPr>
              <a:t> </a:t>
            </a:r>
            <a:r>
              <a:rPr lang="es-CL" sz="2800" dirty="0" err="1">
                <a:latin typeface="Garamond" panose="02020404030301010803" pitchFamily="18" charset="0"/>
              </a:rPr>
              <a:t>urban</a:t>
            </a:r>
            <a:r>
              <a:rPr lang="es-CL" sz="2800" dirty="0">
                <a:latin typeface="Garamond" panose="02020404030301010803" pitchFamily="18" charset="0"/>
              </a:rPr>
              <a:t> discrete </a:t>
            </a:r>
            <a:r>
              <a:rPr lang="es-CL" sz="2800" dirty="0" err="1">
                <a:latin typeface="Garamond" panose="02020404030301010803" pitchFamily="18" charset="0"/>
              </a:rPr>
              <a:t>dynamic</a:t>
            </a:r>
            <a:r>
              <a:rPr lang="es-CL" sz="2800" dirty="0">
                <a:latin typeface="Garamond" panose="02020404030301010803" pitchFamily="18" charset="0"/>
              </a:rPr>
              <a:t> </a:t>
            </a:r>
            <a:r>
              <a:rPr lang="es-CL" sz="2800" dirty="0" err="1">
                <a:latin typeface="Garamond" panose="02020404030301010803" pitchFamily="18" charset="0"/>
              </a:rPr>
              <a:t>pattern</a:t>
            </a:r>
            <a:endParaRPr lang="es-CL" sz="2800" dirty="0">
              <a:latin typeface="Garamond" panose="02020404030301010803" pitchFamily="18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67CE928-6D88-06FB-07BD-4A1764C2FA79}"/>
              </a:ext>
            </a:extLst>
          </p:cNvPr>
          <p:cNvGrpSpPr/>
          <p:nvPr/>
        </p:nvGrpSpPr>
        <p:grpSpPr>
          <a:xfrm>
            <a:off x="1127264" y="3352026"/>
            <a:ext cx="9925280" cy="629435"/>
            <a:chOff x="749808" y="4004216"/>
            <a:chExt cx="7983062" cy="629435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9769723-56BC-3F5F-3873-F926EFF1015F}"/>
                </a:ext>
              </a:extLst>
            </p:cNvPr>
            <p:cNvSpPr txBox="1"/>
            <p:nvPr/>
          </p:nvSpPr>
          <p:spPr>
            <a:xfrm>
              <a:off x="749808" y="4264319"/>
              <a:ext cx="7983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>
                  <a:latin typeface="Garamond" panose="02020404030301010803" pitchFamily="18" charset="0"/>
                </a:rPr>
                <a:t>Can ML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architectures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predict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the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b="1" dirty="0" err="1">
                  <a:latin typeface="Garamond" panose="02020404030301010803" pitchFamily="18" charset="0"/>
                </a:rPr>
                <a:t>next</a:t>
              </a:r>
              <a:r>
                <a:rPr lang="es-CL" b="1" dirty="0">
                  <a:latin typeface="Garamond" panose="02020404030301010803" pitchFamily="18" charset="0"/>
                </a:rPr>
                <a:t> </a:t>
              </a:r>
              <a:r>
                <a:rPr lang="es-CL" b="1" dirty="0" err="1">
                  <a:latin typeface="Garamond" panose="02020404030301010803" pitchFamily="18" charset="0"/>
                </a:rPr>
                <a:t>move</a:t>
              </a:r>
              <a:r>
                <a:rPr lang="es-CL" b="1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of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deterministic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yet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complex</a:t>
              </a:r>
              <a:r>
                <a:rPr lang="es-CL" dirty="0">
                  <a:latin typeface="Garamond" panose="02020404030301010803" pitchFamily="18" charset="0"/>
                </a:rPr>
                <a:t> Discrete 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Dynamic </a:t>
              </a:r>
              <a:r>
                <a:rPr lang="es-CL" dirty="0" err="1">
                  <a:latin typeface="Garamond" panose="02020404030301010803" pitchFamily="18" charset="0"/>
                </a:rPr>
                <a:t>systems</a:t>
              </a:r>
              <a:r>
                <a:rPr lang="es-CL" dirty="0">
                  <a:latin typeface="Garamond" panose="02020404030301010803" pitchFamily="18" charset="0"/>
                </a:rPr>
                <a:t>?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41B57E2-2342-63D4-806B-9DA739107C57}"/>
                </a:ext>
              </a:extLst>
            </p:cNvPr>
            <p:cNvSpPr txBox="1"/>
            <p:nvPr/>
          </p:nvSpPr>
          <p:spPr>
            <a:xfrm>
              <a:off x="749808" y="4004216"/>
              <a:ext cx="1047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dirty="0">
                  <a:solidFill>
                    <a:srgbClr val="12658B"/>
                  </a:solidFill>
                  <a:latin typeface="Aptos"/>
                </a:rPr>
                <a:t>QUESTION</a:t>
              </a:r>
              <a:endParaRPr lang="es-CL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4360" y="6446520"/>
            <a:ext cx="10991088" cy="18288"/>
          </a:xfrm>
          <a:prstGeom prst="rect">
            <a:avLst/>
          </a:prstGeom>
          <a:solidFill>
            <a:srgbClr val="D6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96926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Garrido (2026), Array 30, 100751; Garrido, Distinct Regimes… (manuscript)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0528"/>
            <a:ext cx="347472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08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5CCACA1-D754-3F83-4B15-3F8928FAF169}"/>
              </a:ext>
            </a:extLst>
          </p:cNvPr>
          <p:cNvGrpSpPr/>
          <p:nvPr/>
        </p:nvGrpSpPr>
        <p:grpSpPr>
          <a:xfrm>
            <a:off x="1031290" y="4170209"/>
            <a:ext cx="9112169" cy="1676452"/>
            <a:chOff x="749808" y="3745770"/>
            <a:chExt cx="7364361" cy="684415"/>
          </a:xfrm>
        </p:grpSpPr>
        <p:sp>
          <p:nvSpPr>
            <p:cNvPr id="11" name="TextBox 10"/>
            <p:cNvSpPr txBox="1"/>
            <p:nvPr/>
          </p:nvSpPr>
          <p:spPr>
            <a:xfrm>
              <a:off x="749808" y="3745770"/>
              <a:ext cx="7040880" cy="177167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1">
                  <a:solidFill>
                    <a:srgbClr val="12658B"/>
                  </a:solidFill>
                  <a:latin typeface="Aptos"/>
                </a:defRPr>
              </a:pPr>
              <a:r>
                <a:rPr sz="2400" dirty="0"/>
                <a:t>METHOD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9808" y="3901197"/>
              <a:ext cx="7364361" cy="528988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700" b="0">
                  <a:solidFill>
                    <a:srgbClr val="1D2226"/>
                  </a:solidFill>
                  <a:latin typeface="Aptos"/>
                </a:defRPr>
              </a:pPr>
              <a:r>
                <a:rPr lang="es-CL" sz="2000" dirty="0">
                  <a:latin typeface="Garamond" panose="02020404030301010803" pitchFamily="18" charset="0"/>
                </a:rPr>
                <a:t>ML </a:t>
              </a:r>
              <a:r>
                <a:rPr lang="es-CL" sz="2000" dirty="0" err="1">
                  <a:latin typeface="Garamond" panose="02020404030301010803" pitchFamily="18" charset="0"/>
                </a:rPr>
                <a:t>models</a:t>
              </a:r>
              <a:r>
                <a:rPr lang="es-CL" sz="2000" dirty="0">
                  <a:latin typeface="Garamond" panose="02020404030301010803" pitchFamily="18" charset="0"/>
                </a:rPr>
                <a:t>: 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LSTM</a:t>
              </a:r>
              <a:r>
                <a:rPr lang="es-CL" sz="2000" dirty="0">
                  <a:latin typeface="Garamond" panose="02020404030301010803" pitchFamily="18" charset="0"/>
                </a:rPr>
                <a:t> and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Transformer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architectures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trained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to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predict</a:t>
              </a:r>
              <a:r>
                <a:rPr lang="es-CL" sz="2000" dirty="0">
                  <a:latin typeface="Garamond" panose="02020404030301010803" pitchFamily="18" charset="0"/>
                </a:rPr>
                <a:t> future </a:t>
              </a:r>
              <a:r>
                <a:rPr lang="es-CL" sz="2000" dirty="0" err="1">
                  <a:latin typeface="Garamond" panose="02020404030301010803" pitchFamily="18" charset="0"/>
                </a:rPr>
                <a:t>cellular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configurations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from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observed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past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states</a:t>
              </a:r>
              <a:r>
                <a:rPr lang="es-CL" sz="2000" dirty="0">
                  <a:latin typeface="Garamond" panose="02020404030301010803" pitchFamily="18" charset="0"/>
                </a:rPr>
                <a:t>. </a:t>
              </a:r>
              <a:r>
                <a:rPr lang="es-CL" sz="2000" dirty="0" err="1">
                  <a:latin typeface="Garamond" panose="02020404030301010803" pitchFamily="18" charset="0"/>
                </a:rPr>
                <a:t>Evaluation</a:t>
              </a:r>
              <a:r>
                <a:rPr lang="es-CL" sz="2000" dirty="0">
                  <a:latin typeface="Garamond" panose="02020404030301010803" pitchFamily="18" charset="0"/>
                </a:rPr>
                <a:t>: </a:t>
              </a:r>
              <a:r>
                <a:rPr lang="es-CL" sz="2000" dirty="0" err="1">
                  <a:latin typeface="Garamond" panose="02020404030301010803" pitchFamily="18" charset="0"/>
                </a:rPr>
                <a:t>Out-of-sample</a:t>
              </a:r>
              <a:r>
                <a:rPr lang="es-CL" sz="2000" dirty="0">
                  <a:latin typeface="Garamond" panose="02020404030301010803" pitchFamily="18" charset="0"/>
                </a:rPr>
                <a:t> predictive </a:t>
              </a:r>
              <a:r>
                <a:rPr lang="es-CL" sz="2000" dirty="0" err="1">
                  <a:latin typeface="Garamond" panose="02020404030301010803" pitchFamily="18" charset="0"/>
                </a:rPr>
                <a:t>accuracy</a:t>
              </a:r>
              <a:r>
                <a:rPr lang="es-CL" sz="2000" dirty="0">
                  <a:latin typeface="Garamond" panose="02020404030301010803" pitchFamily="18" charset="0"/>
                </a:rPr>
                <a:t> and error </a:t>
              </a:r>
              <a:r>
                <a:rPr lang="es-CL" sz="2000" dirty="0" err="1">
                  <a:latin typeface="Garamond" panose="02020404030301010803" pitchFamily="18" charset="0"/>
                </a:rPr>
                <a:t>analysis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across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different</a:t>
              </a:r>
              <a:r>
                <a:rPr lang="es-CL" sz="2000" dirty="0">
                  <a:latin typeface="Garamond" panose="02020404030301010803" pitchFamily="18" charset="0"/>
                </a:rPr>
                <a:t> rules </a:t>
              </a:r>
              <a:r>
                <a:rPr lang="es-CL" sz="2000" dirty="0" err="1">
                  <a:latin typeface="Garamond" panose="02020404030301010803" pitchFamily="18" charset="0"/>
                </a:rPr>
                <a:t>to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latin typeface="Garamond" panose="02020404030301010803" pitchFamily="18" charset="0"/>
                </a:rPr>
                <a:t>assess</a:t>
              </a:r>
              <a:r>
                <a:rPr lang="es-CL" sz="2000" dirty="0"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how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dynamical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complexity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affects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sz="20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model</a:t>
              </a:r>
              <a:r>
                <a:rPr lang="es-CL" sz="20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 performance</a:t>
              </a:r>
              <a:r>
                <a:rPr lang="es-CL" sz="2000" dirty="0">
                  <a:latin typeface="Garamond" panose="02020404030301010803" pitchFamily="18" charset="0"/>
                </a:rPr>
                <a:t>.</a:t>
              </a:r>
            </a:p>
          </p:txBody>
        </p:sp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6C914C2B-2579-00C7-48AB-197EF891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93267"/>
            <a:ext cx="8400784" cy="3288380"/>
          </a:xfrm>
          <a:prstGeom prst="rect">
            <a:avLst/>
          </a:prstGeom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7234E78A-7187-77B2-A662-DBA65D38CE2A}"/>
              </a:ext>
            </a:extLst>
          </p:cNvPr>
          <p:cNvGrpSpPr/>
          <p:nvPr/>
        </p:nvGrpSpPr>
        <p:grpSpPr>
          <a:xfrm>
            <a:off x="484632" y="292608"/>
            <a:ext cx="10963656" cy="493776"/>
            <a:chOff x="484632" y="292608"/>
            <a:chExt cx="10963656" cy="493776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526B7AFD-4010-39FF-224D-61281878A282}"/>
                </a:ext>
              </a:extLst>
            </p:cNvPr>
            <p:cNvSpPr/>
            <p:nvPr/>
          </p:nvSpPr>
          <p:spPr>
            <a:xfrm>
              <a:off x="484632" y="347472"/>
              <a:ext cx="96012" cy="438912"/>
            </a:xfrm>
            <a:prstGeom prst="rect">
              <a:avLst/>
            </a:prstGeom>
            <a:solidFill>
              <a:srgbClr val="00AE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2">
              <a:extLst>
                <a:ext uri="{FF2B5EF4-FFF2-40B4-BE49-F238E27FC236}">
                  <a16:creationId xmlns:a16="http://schemas.microsoft.com/office/drawing/2014/main" id="{62C78131-006E-4AAF-7F1C-951F2807C58C}"/>
                </a:ext>
              </a:extLst>
            </p:cNvPr>
            <p:cNvSpPr txBox="1"/>
            <p:nvPr/>
          </p:nvSpPr>
          <p:spPr>
            <a:xfrm>
              <a:off x="749808" y="292608"/>
              <a:ext cx="10698480" cy="438912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2500" b="1">
                  <a:solidFill>
                    <a:srgbClr val="1D2226"/>
                  </a:solidFill>
                  <a:latin typeface="Georgia"/>
                </a:defRPr>
              </a:pPr>
              <a:r>
                <a:rPr dirty="0"/>
                <a:t>Predictive limits depend on the dynamics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DDFA99A-D084-4DDC-907E-15BED1FE395A}"/>
              </a:ext>
            </a:extLst>
          </p:cNvPr>
          <p:cNvSpPr txBox="1"/>
          <p:nvPr/>
        </p:nvSpPr>
        <p:spPr>
          <a:xfrm>
            <a:off x="1042519" y="5069527"/>
            <a:ext cx="887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600" dirty="0">
                <a:latin typeface="Garamond" panose="02020404030301010803" pitchFamily="18" charset="0"/>
              </a:rPr>
              <a:t>🤔</a:t>
            </a:r>
            <a:r>
              <a:rPr lang="es-CL" sz="2400" dirty="0">
                <a:latin typeface="Garamond" panose="02020404030301010803" pitchFamily="18" charset="0"/>
              </a:rPr>
              <a:t> Why do </a:t>
            </a:r>
            <a:r>
              <a:rPr lang="es-CL" sz="2400" dirty="0" err="1">
                <a:latin typeface="Garamond" panose="02020404030301010803" pitchFamily="18" charset="0"/>
              </a:rPr>
              <a:t>deterministic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systems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exhibit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different</a:t>
            </a:r>
            <a:r>
              <a:rPr lang="es-CL" sz="2400" dirty="0">
                <a:latin typeface="Garamond" panose="02020404030301010803" pitchFamily="18" charset="0"/>
              </a:rPr>
              <a:t> predictive </a:t>
            </a:r>
            <a:r>
              <a:rPr lang="es-CL" sz="2400" dirty="0" err="1">
                <a:latin typeface="Garamond" panose="02020404030301010803" pitchFamily="18" charset="0"/>
              </a:rPr>
              <a:t>regimes</a:t>
            </a:r>
            <a:r>
              <a:rPr lang="es-CL" sz="2400" dirty="0">
                <a:latin typeface="Garamond" panose="02020404030301010803" pitchFamily="18" charset="0"/>
              </a:rPr>
              <a:t>?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A4D6D12-7D03-FB6A-EF81-3D03F1FD0579}"/>
              </a:ext>
            </a:extLst>
          </p:cNvPr>
          <p:cNvGrpSpPr/>
          <p:nvPr/>
        </p:nvGrpSpPr>
        <p:grpSpPr>
          <a:xfrm>
            <a:off x="808006" y="2889251"/>
            <a:ext cx="9112169" cy="1799563"/>
            <a:chOff x="749808" y="3745770"/>
            <a:chExt cx="7364361" cy="734676"/>
          </a:xfrm>
        </p:grpSpPr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A7CBDA98-AE92-52C6-3B06-38A19FBDDD5B}"/>
                </a:ext>
              </a:extLst>
            </p:cNvPr>
            <p:cNvSpPr txBox="1"/>
            <p:nvPr/>
          </p:nvSpPr>
          <p:spPr>
            <a:xfrm>
              <a:off x="749808" y="3745770"/>
              <a:ext cx="7040880" cy="177167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1">
                  <a:solidFill>
                    <a:srgbClr val="12658B"/>
                  </a:solidFill>
                  <a:latin typeface="Aptos"/>
                </a:defRPr>
              </a:pPr>
              <a:r>
                <a:rPr sz="2400" dirty="0"/>
                <a:t>T</a:t>
              </a:r>
              <a:r>
                <a:rPr lang="es-ES" sz="2400" dirty="0"/>
                <a:t>AKEAWAY</a:t>
              </a:r>
              <a:endParaRPr sz="2400" dirty="0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3B11E143-9D0C-91F1-C36E-AD2ED3781C55}"/>
                </a:ext>
              </a:extLst>
            </p:cNvPr>
            <p:cNvSpPr txBox="1"/>
            <p:nvPr/>
          </p:nvSpPr>
          <p:spPr>
            <a:xfrm>
              <a:off x="749808" y="3901197"/>
              <a:ext cx="7364361" cy="579249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700" b="0">
                  <a:solidFill>
                    <a:srgbClr val="1D2226"/>
                  </a:solidFill>
                  <a:latin typeface="Aptos"/>
                </a:defRPr>
              </a:pPr>
              <a:r>
                <a:rPr lang="es-CL" sz="2200" dirty="0" err="1">
                  <a:latin typeface="Garamond" panose="02020404030301010803" pitchFamily="18" charset="0"/>
                </a:rPr>
                <a:t>We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examined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how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different</a:t>
              </a:r>
              <a:r>
                <a:rPr lang="es-CL" sz="2200" dirty="0">
                  <a:latin typeface="Garamond" panose="02020404030301010803" pitchFamily="18" charset="0"/>
                </a:rPr>
                <a:t> neural </a:t>
              </a:r>
              <a:r>
                <a:rPr lang="es-CL" sz="2200" dirty="0" err="1">
                  <a:latin typeface="Garamond" panose="02020404030301010803" pitchFamily="18" charset="0"/>
                </a:rPr>
                <a:t>architectures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predict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deterministic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cellular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automata</a:t>
              </a:r>
              <a:r>
                <a:rPr lang="es-CL" sz="2200" dirty="0">
                  <a:latin typeface="Garamond" panose="02020404030301010803" pitchFamily="18" charset="0"/>
                </a:rPr>
                <a:t>. </a:t>
              </a:r>
              <a:r>
                <a:rPr lang="es-CL" sz="2200" dirty="0" err="1">
                  <a:latin typeface="Garamond" panose="02020404030301010803" pitchFamily="18" charset="0"/>
                </a:rPr>
                <a:t>This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raised</a:t>
              </a:r>
              <a:r>
                <a:rPr lang="es-CL" sz="2200" dirty="0">
                  <a:latin typeface="Garamond" panose="02020404030301010803" pitchFamily="18" charset="0"/>
                </a:rPr>
                <a:t> a </a:t>
              </a:r>
              <a:r>
                <a:rPr lang="es-CL" sz="2200" dirty="0" err="1">
                  <a:latin typeface="Garamond" panose="02020404030301010803" pitchFamily="18" charset="0"/>
                </a:rPr>
                <a:t>deeper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question</a:t>
              </a:r>
              <a:r>
                <a:rPr lang="es-CL" sz="2200" dirty="0">
                  <a:latin typeface="Garamond" panose="02020404030301010803" pitchFamily="18" charset="0"/>
                </a:rPr>
                <a:t>: </a:t>
              </a:r>
              <a:r>
                <a:rPr lang="es-CL" sz="2200" dirty="0" err="1">
                  <a:latin typeface="Garamond" panose="02020404030301010803" pitchFamily="18" charset="0"/>
                </a:rPr>
                <a:t>is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prediction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failure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primarily</a:t>
              </a:r>
              <a:r>
                <a:rPr lang="es-CL" sz="2200" dirty="0">
                  <a:latin typeface="Garamond" panose="02020404030301010803" pitchFamily="18" charset="0"/>
                </a:rPr>
                <a:t> a </a:t>
              </a:r>
              <a:r>
                <a:rPr lang="es-CL" sz="2200" dirty="0" err="1">
                  <a:latin typeface="Garamond" panose="02020404030301010803" pitchFamily="18" charset="0"/>
                </a:rPr>
                <a:t>limitation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of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the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learning</a:t>
              </a:r>
              <a:r>
                <a:rPr lang="es-CL" sz="2200" dirty="0">
                  <a:latin typeface="Garamond" panose="02020404030301010803" pitchFamily="18" charset="0"/>
                </a:rPr>
                <a:t> </a:t>
              </a:r>
              <a:r>
                <a:rPr lang="es-CL" sz="2200" dirty="0" err="1">
                  <a:latin typeface="Garamond" panose="02020404030301010803" pitchFamily="18" charset="0"/>
                </a:rPr>
                <a:t>architecture</a:t>
              </a:r>
              <a:r>
                <a:rPr lang="es-CL" sz="2200" dirty="0">
                  <a:latin typeface="Garamond" panose="02020404030301010803" pitchFamily="18" charset="0"/>
                </a:rPr>
                <a:t>, </a:t>
              </a:r>
              <a:r>
                <a:rPr lang="es-CL" sz="2200" dirty="0" err="1">
                  <a:latin typeface="Garamond" panose="02020404030301010803" pitchFamily="18" charset="0"/>
                </a:rPr>
                <a:t>or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does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it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also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depend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on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how</a:t>
              </a:r>
              <a:r>
                <a:rPr lang="es-CL" sz="2200" b="1" dirty="0">
                  <a:latin typeface="Garamond" panose="02020404030301010803" pitchFamily="18" charset="0"/>
                </a:rPr>
                <a:t> predictive </a:t>
              </a:r>
              <a:r>
                <a:rPr lang="es-CL" sz="2200" b="1" dirty="0" err="1">
                  <a:latin typeface="Garamond" panose="02020404030301010803" pitchFamily="18" charset="0"/>
                </a:rPr>
                <a:t>information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is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organized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within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the</a:t>
              </a:r>
              <a:r>
                <a:rPr lang="es-CL" sz="2200" b="1" dirty="0">
                  <a:latin typeface="Garamond" panose="02020404030301010803" pitchFamily="18" charset="0"/>
                </a:rPr>
                <a:t> </a:t>
              </a:r>
              <a:r>
                <a:rPr lang="es-CL" sz="2200" b="1" dirty="0" err="1">
                  <a:latin typeface="Garamond" panose="02020404030301010803" pitchFamily="18" charset="0"/>
                </a:rPr>
                <a:t>system</a:t>
              </a:r>
              <a:r>
                <a:rPr lang="es-CL" sz="2200" dirty="0">
                  <a:latin typeface="Garamond" panose="02020404030301010803" pitchFamily="18" charset="0"/>
                </a:rPr>
                <a:t>?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94792011-C8E6-11BA-1FAF-5642955A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8" y="79339"/>
            <a:ext cx="6729354" cy="263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9D2A29-E632-9A90-3DAE-B2C05366C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88" y="530195"/>
            <a:ext cx="5795769" cy="2025469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6A4A9498-0D26-02D4-02FC-C4DE5FE06CED}"/>
              </a:ext>
            </a:extLst>
          </p:cNvPr>
          <p:cNvGrpSpPr/>
          <p:nvPr/>
        </p:nvGrpSpPr>
        <p:grpSpPr>
          <a:xfrm>
            <a:off x="687573" y="691116"/>
            <a:ext cx="3597348" cy="1178781"/>
            <a:chOff x="815163" y="504433"/>
            <a:chExt cx="5691963" cy="164191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9E14CB7-D626-C0E9-0F74-B13170B89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163" y="504433"/>
              <a:ext cx="5691963" cy="1641912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04E465C-D891-D487-6E7C-5339AB3AFF8F}"/>
                </a:ext>
              </a:extLst>
            </p:cNvPr>
            <p:cNvSpPr/>
            <p:nvPr/>
          </p:nvSpPr>
          <p:spPr>
            <a:xfrm>
              <a:off x="5103628" y="1020726"/>
              <a:ext cx="992372" cy="304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62161FC-E9A4-04F4-E790-726960B3FD09}"/>
              </a:ext>
            </a:extLst>
          </p:cNvPr>
          <p:cNvGrpSpPr/>
          <p:nvPr/>
        </p:nvGrpSpPr>
        <p:grpSpPr>
          <a:xfrm>
            <a:off x="687573" y="2711269"/>
            <a:ext cx="5339906" cy="1553117"/>
            <a:chOff x="567566" y="3128933"/>
            <a:chExt cx="5229730" cy="1424094"/>
          </a:xfrm>
        </p:grpSpPr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CAC22FCB-CD9C-DAD8-C038-BDFEE6A0C204}"/>
                </a:ext>
              </a:extLst>
            </p:cNvPr>
            <p:cNvSpPr txBox="1"/>
            <p:nvPr/>
          </p:nvSpPr>
          <p:spPr>
            <a:xfrm>
              <a:off x="567566" y="3565064"/>
              <a:ext cx="5229730" cy="98796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dirty="0">
                  <a:latin typeface="Garamond" panose="02020404030301010803" pitchFamily="18" charset="0"/>
                </a:rPr>
                <a:t>How </a:t>
              </a:r>
              <a:r>
                <a:rPr lang="es-CL" dirty="0" err="1">
                  <a:latin typeface="Garamond" panose="02020404030301010803" pitchFamily="18" charset="0"/>
                </a:rPr>
                <a:t>does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the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organization</a:t>
              </a:r>
              <a:r>
                <a:rPr lang="es-CL" dirty="0">
                  <a:latin typeface="Garamond" panose="02020404030301010803" pitchFamily="18" charset="0"/>
                </a:rPr>
                <a:t> and </a:t>
              </a:r>
              <a:r>
                <a:rPr lang="es-CL" dirty="0" err="1">
                  <a:latin typeface="Garamond" panose="02020404030301010803" pitchFamily="18" charset="0"/>
                </a:rPr>
                <a:t>propagation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of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information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affect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long-horizon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predictability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under</a:t>
              </a:r>
              <a:r>
                <a:rPr lang="es-CL" dirty="0">
                  <a:latin typeface="Garamond" panose="02020404030301010803" pitchFamily="18" charset="0"/>
                </a:rPr>
                <a:t> finite </a:t>
              </a:r>
              <a:r>
                <a:rPr lang="es-CL" dirty="0" err="1">
                  <a:latin typeface="Garamond" panose="02020404030301010803" pitchFamily="18" charset="0"/>
                </a:rPr>
                <a:t>learned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representations</a:t>
              </a:r>
              <a:r>
                <a:rPr lang="es-CL" dirty="0">
                  <a:latin typeface="Garamond" panose="02020404030301010803" pitchFamily="18" charset="0"/>
                </a:rPr>
                <a:t>?</a:t>
              </a: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6A6E05F-17DE-5D6A-E1C2-059B3B725B0C}"/>
                </a:ext>
              </a:extLst>
            </p:cNvPr>
            <p:cNvGrpSpPr/>
            <p:nvPr/>
          </p:nvGrpSpPr>
          <p:grpSpPr>
            <a:xfrm>
              <a:off x="594360" y="3128933"/>
              <a:ext cx="4956048" cy="393192"/>
              <a:chOff x="914400" y="1554480"/>
              <a:chExt cx="4956048" cy="393192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3C46BC90-22EB-E62A-FB32-1323313D5C0B}"/>
                  </a:ext>
                </a:extLst>
              </p:cNvPr>
              <p:cNvSpPr/>
              <p:nvPr/>
            </p:nvSpPr>
            <p:spPr>
              <a:xfrm>
                <a:off x="914400" y="1554480"/>
                <a:ext cx="4956048" cy="393192"/>
              </a:xfrm>
              <a:prstGeom prst="rect">
                <a:avLst/>
              </a:prstGeom>
              <a:solidFill>
                <a:srgbClr val="1B628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FFA3162A-7C2E-4DE0-BFF0-88DC764DBA1B}"/>
                  </a:ext>
                </a:extLst>
              </p:cNvPr>
              <p:cNvSpPr txBox="1"/>
              <p:nvPr/>
            </p:nvSpPr>
            <p:spPr>
              <a:xfrm>
                <a:off x="1024128" y="1591056"/>
                <a:ext cx="4663440" cy="274320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800"/>
                  </a:spcAft>
                  <a:defRPr sz="1300" b="1">
                    <a:solidFill>
                      <a:srgbClr val="FFFFFF"/>
                    </a:solidFill>
                    <a:latin typeface="Aptos"/>
                  </a:defRPr>
                </a:pPr>
                <a:r>
                  <a:t>RESEARCH QUESTION</a:t>
                </a: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65F9009-146B-C797-D8BA-22B9DF9C0EF3}"/>
              </a:ext>
            </a:extLst>
          </p:cNvPr>
          <p:cNvGrpSpPr/>
          <p:nvPr/>
        </p:nvGrpSpPr>
        <p:grpSpPr>
          <a:xfrm>
            <a:off x="4486940" y="3981456"/>
            <a:ext cx="6094050" cy="2201892"/>
            <a:chOff x="5735628" y="3560107"/>
            <a:chExt cx="5451418" cy="2201892"/>
          </a:xfrm>
        </p:grpSpPr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083299A7-A108-9CFD-A2DF-C28DB11FCA6C}"/>
                </a:ext>
              </a:extLst>
            </p:cNvPr>
            <p:cNvSpPr txBox="1"/>
            <p:nvPr/>
          </p:nvSpPr>
          <p:spPr>
            <a:xfrm>
              <a:off x="5797296" y="3953299"/>
              <a:ext cx="5389750" cy="1808700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>
              <a:defPPr>
                <a:defRPr lang="en-US"/>
              </a:defPPr>
              <a:lvl1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Garamond" panose="02020404030301010803" pitchFamily="18" charset="0"/>
                </a:defRPr>
              </a:lvl1pPr>
            </a:lstStyle>
            <a:p>
              <a:r>
                <a:rPr lang="es-CL" dirty="0" err="1"/>
                <a:t>Controlled</a:t>
              </a:r>
              <a:r>
                <a:rPr lang="es-CL" dirty="0"/>
                <a:t> multi-step </a:t>
              </a:r>
              <a:r>
                <a:rPr lang="es-CL" dirty="0" err="1"/>
                <a:t>forecasting</a:t>
              </a:r>
              <a:r>
                <a:rPr lang="es-CL" dirty="0"/>
                <a:t> </a:t>
              </a:r>
              <a:r>
                <a:rPr lang="es-CL" dirty="0" err="1"/>
                <a:t>across</a:t>
              </a:r>
              <a:r>
                <a:rPr lang="es-CL" dirty="0"/>
                <a:t> </a:t>
              </a:r>
              <a:r>
                <a:rPr lang="es-CL" dirty="0" err="1"/>
                <a:t>cellular</a:t>
              </a:r>
              <a:r>
                <a:rPr lang="es-CL" dirty="0"/>
                <a:t> </a:t>
              </a:r>
              <a:r>
                <a:rPr lang="es-CL" dirty="0" err="1"/>
                <a:t>automata</a:t>
              </a:r>
              <a:r>
                <a:rPr lang="es-CL" dirty="0"/>
                <a:t>.</a:t>
              </a:r>
            </a:p>
            <a:p>
              <a:r>
                <a:rPr lang="es-CL" dirty="0"/>
                <a:t>Neural </a:t>
              </a:r>
              <a:r>
                <a:rPr lang="es-CL" dirty="0" err="1"/>
                <a:t>predictors</a:t>
              </a:r>
              <a:r>
                <a:rPr lang="es-CL" dirty="0"/>
                <a:t> </a:t>
              </a:r>
              <a:r>
                <a:rPr lang="es-CL" dirty="0" err="1"/>
                <a:t>with</a:t>
              </a:r>
              <a:r>
                <a:rPr lang="es-CL" dirty="0"/>
                <a:t> </a:t>
              </a:r>
              <a:r>
                <a:rPr lang="es-CL" dirty="0" err="1"/>
                <a:t>varying</a:t>
              </a:r>
              <a:r>
                <a:rPr lang="es-CL" dirty="0"/>
                <a:t> receptive </a:t>
              </a:r>
              <a:r>
                <a:rPr lang="es-CL" dirty="0" err="1"/>
                <a:t>fields</a:t>
              </a:r>
              <a:r>
                <a:rPr lang="es-CL" dirty="0"/>
                <a:t> and </a:t>
              </a:r>
              <a:r>
                <a:rPr lang="es-CL" dirty="0" err="1"/>
                <a:t>prediction</a:t>
              </a:r>
              <a:r>
                <a:rPr lang="es-CL" dirty="0"/>
                <a:t> </a:t>
              </a:r>
              <a:r>
                <a:rPr lang="es-CL" dirty="0" err="1"/>
                <a:t>horizons</a:t>
              </a:r>
              <a:r>
                <a:rPr lang="es-CL" dirty="0"/>
                <a:t>.</a:t>
              </a:r>
            </a:p>
            <a:p>
              <a:r>
                <a:rPr lang="es-CL" dirty="0" err="1"/>
                <a:t>Analysis</a:t>
              </a:r>
              <a:r>
                <a:rPr lang="es-CL" dirty="0"/>
                <a:t> </a:t>
              </a:r>
              <a:r>
                <a:rPr lang="es-CL" dirty="0" err="1"/>
                <a:t>of</a:t>
              </a:r>
              <a:r>
                <a:rPr lang="es-CL" dirty="0"/>
                <a:t> mutual </a:t>
              </a:r>
              <a:r>
                <a:rPr lang="es-CL" dirty="0" err="1"/>
                <a:t>information</a:t>
              </a:r>
              <a:r>
                <a:rPr lang="es-CL" dirty="0"/>
                <a:t>, causal </a:t>
              </a:r>
              <a:r>
                <a:rPr lang="es-CL" dirty="0" err="1"/>
                <a:t>accessibility</a:t>
              </a:r>
              <a:r>
                <a:rPr lang="es-CL" dirty="0"/>
                <a:t>, </a:t>
              </a:r>
              <a:r>
                <a:rPr lang="es-CL" dirty="0" err="1"/>
                <a:t>compressibility</a:t>
              </a:r>
              <a:r>
                <a:rPr lang="es-CL" dirty="0"/>
                <a:t> and </a:t>
              </a:r>
              <a:r>
                <a:rPr lang="es-CL" dirty="0" err="1"/>
                <a:t>parity</a:t>
              </a:r>
              <a:r>
                <a:rPr lang="es-CL" dirty="0"/>
                <a:t> </a:t>
              </a:r>
              <a:r>
                <a:rPr lang="es-CL" dirty="0" err="1"/>
                <a:t>dependencies</a:t>
              </a:r>
              <a:r>
                <a:rPr lang="es-CL" dirty="0"/>
                <a:t>.</a:t>
              </a: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7F1416A-0A79-5D4E-61B4-A558422FF032}"/>
                </a:ext>
              </a:extLst>
            </p:cNvPr>
            <p:cNvGrpSpPr/>
            <p:nvPr/>
          </p:nvGrpSpPr>
          <p:grpSpPr>
            <a:xfrm>
              <a:off x="5735628" y="3560107"/>
              <a:ext cx="5312663" cy="393192"/>
              <a:chOff x="6263640" y="1554480"/>
              <a:chExt cx="4956048" cy="393192"/>
            </a:xfrm>
          </p:grpSpPr>
          <p:sp>
            <p:nvSpPr>
              <p:cNvPr id="18" name="Rectangle 10">
                <a:extLst>
                  <a:ext uri="{FF2B5EF4-FFF2-40B4-BE49-F238E27FC236}">
                    <a16:creationId xmlns:a16="http://schemas.microsoft.com/office/drawing/2014/main" id="{B4F6FEC5-BBD1-C0D3-8C04-9686B23A95C8}"/>
                  </a:ext>
                </a:extLst>
              </p:cNvPr>
              <p:cNvSpPr/>
              <p:nvPr/>
            </p:nvSpPr>
            <p:spPr>
              <a:xfrm>
                <a:off x="6263640" y="1554480"/>
                <a:ext cx="4956048" cy="393192"/>
              </a:xfrm>
              <a:prstGeom prst="rect">
                <a:avLst/>
              </a:prstGeom>
              <a:solidFill>
                <a:srgbClr val="1B628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AD16A8E9-A7EE-1403-E7EF-F80D897BD920}"/>
                  </a:ext>
                </a:extLst>
              </p:cNvPr>
              <p:cNvSpPr txBox="1"/>
              <p:nvPr/>
            </p:nvSpPr>
            <p:spPr>
              <a:xfrm>
                <a:off x="6373368" y="1591056"/>
                <a:ext cx="4663440" cy="274320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800"/>
                  </a:spcAft>
                  <a:defRPr sz="1300" b="1">
                    <a:solidFill>
                      <a:srgbClr val="FFFFFF"/>
                    </a:solidFill>
                    <a:latin typeface="Aptos"/>
                  </a:defRPr>
                </a:pPr>
                <a:r>
                  <a:t>METHODOLOGY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79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A8BE3-BFBB-4D3D-29F9-FBE07D43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4AC1DD-E008-29AE-92F3-84B608A48384}"/>
              </a:ext>
            </a:extLst>
          </p:cNvPr>
          <p:cNvSpPr/>
          <p:nvPr/>
        </p:nvSpPr>
        <p:spPr>
          <a:xfrm>
            <a:off x="594360" y="6446520"/>
            <a:ext cx="10991088" cy="18288"/>
          </a:xfrm>
          <a:prstGeom prst="rect">
            <a:avLst/>
          </a:prstGeom>
          <a:solidFill>
            <a:srgbClr val="D6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07B3C-F5AD-88D1-AF80-7729A78682F9}"/>
              </a:ext>
            </a:extLst>
          </p:cNvPr>
          <p:cNvSpPr txBox="1"/>
          <p:nvPr/>
        </p:nvSpPr>
        <p:spPr>
          <a:xfrm>
            <a:off x="676656" y="6510528"/>
            <a:ext cx="96926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Garrido (2026), Array 30, 100751; Garrido, Distinct Regimes… (manuscript)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E1229-B3CB-8486-05B5-FEF2FCD2EBEB}"/>
              </a:ext>
            </a:extLst>
          </p:cNvPr>
          <p:cNvSpPr txBox="1"/>
          <p:nvPr/>
        </p:nvSpPr>
        <p:spPr>
          <a:xfrm>
            <a:off x="11137392" y="6510528"/>
            <a:ext cx="347472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08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5385F91-FC6B-5CF8-4A09-4DFF2D3906CC}"/>
              </a:ext>
            </a:extLst>
          </p:cNvPr>
          <p:cNvGrpSpPr/>
          <p:nvPr/>
        </p:nvGrpSpPr>
        <p:grpSpPr>
          <a:xfrm>
            <a:off x="484632" y="292608"/>
            <a:ext cx="10963656" cy="493776"/>
            <a:chOff x="484632" y="292608"/>
            <a:chExt cx="10963656" cy="493776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336DE646-F8EA-AD88-54A2-81F3394E609D}"/>
                </a:ext>
              </a:extLst>
            </p:cNvPr>
            <p:cNvSpPr/>
            <p:nvPr/>
          </p:nvSpPr>
          <p:spPr>
            <a:xfrm>
              <a:off x="484632" y="347472"/>
              <a:ext cx="96012" cy="438912"/>
            </a:xfrm>
            <a:prstGeom prst="rect">
              <a:avLst/>
            </a:prstGeom>
            <a:solidFill>
              <a:srgbClr val="00AE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2">
              <a:extLst>
                <a:ext uri="{FF2B5EF4-FFF2-40B4-BE49-F238E27FC236}">
                  <a16:creationId xmlns:a16="http://schemas.microsoft.com/office/drawing/2014/main" id="{F6F8E00E-4E27-8CC3-D334-772D2191AC72}"/>
                </a:ext>
              </a:extLst>
            </p:cNvPr>
            <p:cNvSpPr txBox="1"/>
            <p:nvPr/>
          </p:nvSpPr>
          <p:spPr>
            <a:xfrm>
              <a:off x="749808" y="292608"/>
              <a:ext cx="10698480" cy="438912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2500" b="1">
                  <a:solidFill>
                    <a:srgbClr val="1D2226"/>
                  </a:solidFill>
                  <a:latin typeface="Georgia"/>
                </a:defRPr>
              </a:pPr>
              <a:r>
                <a:rPr dirty="0"/>
                <a:t>Predictive limits depend on the dynamics</a:t>
              </a:r>
            </a:p>
          </p:txBody>
        </p:sp>
      </p:grpSp>
      <p:sp>
        <p:nvSpPr>
          <p:cNvPr id="44" name="TextBox 12">
            <a:extLst>
              <a:ext uri="{FF2B5EF4-FFF2-40B4-BE49-F238E27FC236}">
                <a16:creationId xmlns:a16="http://schemas.microsoft.com/office/drawing/2014/main" id="{9820C49C-D3A2-15C8-1C4F-035A4C3299FC}"/>
              </a:ext>
            </a:extLst>
          </p:cNvPr>
          <p:cNvSpPr txBox="1"/>
          <p:nvPr/>
        </p:nvSpPr>
        <p:spPr>
          <a:xfrm>
            <a:off x="893595" y="831167"/>
            <a:ext cx="7538023" cy="43396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2658B"/>
                </a:solidFill>
                <a:latin typeface="Aptos"/>
              </a:defRPr>
            </a:pPr>
            <a:r>
              <a:rPr sz="2400" dirty="0">
                <a:latin typeface="Garamond" panose="02020404030301010803" pitchFamily="18" charset="0"/>
              </a:rPr>
              <a:t>OBSERVED REGIMES</a:t>
            </a:r>
            <a:r>
              <a:rPr lang="es-ES" sz="2400" dirty="0">
                <a:latin typeface="Garamond" panose="02020404030301010803" pitchFamily="18" charset="0"/>
              </a:rPr>
              <a:t> 				</a:t>
            </a:r>
            <a:r>
              <a:rPr lang="es-CL" sz="2400" dirty="0">
                <a:latin typeface="Garamond" panose="02020404030301010803" pitchFamily="18" charset="0"/>
              </a:rPr>
              <a:t>RESULTS</a:t>
            </a:r>
            <a:endParaRPr sz="2400" dirty="0">
              <a:latin typeface="Garamond" panose="02020404030301010803" pitchFamily="18" charset="0"/>
            </a:endParaRP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2F9990CE-8206-4E4C-3A75-AB1E24043816}"/>
              </a:ext>
            </a:extLst>
          </p:cNvPr>
          <p:cNvGrpSpPr/>
          <p:nvPr/>
        </p:nvGrpSpPr>
        <p:grpSpPr>
          <a:xfrm>
            <a:off x="893595" y="1364779"/>
            <a:ext cx="7144013" cy="2311327"/>
            <a:chOff x="893595" y="1364779"/>
            <a:chExt cx="7144013" cy="2311327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B0BB21B0-0B32-56DD-2CD3-49CD34892C85}"/>
                </a:ext>
              </a:extLst>
            </p:cNvPr>
            <p:cNvGrpSpPr/>
            <p:nvPr/>
          </p:nvGrpSpPr>
          <p:grpSpPr>
            <a:xfrm>
              <a:off x="893595" y="1364779"/>
              <a:ext cx="3293806" cy="2311327"/>
              <a:chOff x="893595" y="1364779"/>
              <a:chExt cx="3293806" cy="231132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515241-486A-D03A-A194-3042277A2C3F}"/>
                  </a:ext>
                </a:extLst>
              </p:cNvPr>
              <p:cNvSpPr txBox="1"/>
              <p:nvPr/>
            </p:nvSpPr>
            <p:spPr>
              <a:xfrm>
                <a:off x="893595" y="1364779"/>
                <a:ext cx="3293806" cy="557076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600"/>
                  </a:spcAft>
                  <a:defRPr sz="1200" b="0">
                    <a:solidFill>
                      <a:srgbClr val="5E696F"/>
                    </a:solidFill>
                    <a:latin typeface="Aptos"/>
                  </a:defRPr>
                </a:pPr>
                <a:r>
                  <a:rPr lang="es-ES" sz="1600" b="1" dirty="0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R30 </a:t>
                </a:r>
                <a:r>
                  <a:rPr lang="es-ES" sz="1600" b="1" dirty="0" err="1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Chaotic</a:t>
                </a:r>
                <a:r>
                  <a:rPr lang="es-ES" sz="1600" b="1" dirty="0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, </a:t>
                </a:r>
                <a:r>
                  <a:rPr lang="es-ES" sz="1600" b="1" dirty="0" err="1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aparently</a:t>
                </a:r>
                <a:r>
                  <a:rPr lang="es-ES" sz="1600" b="1" dirty="0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s-ES" sz="1600" b="1" dirty="0" err="1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random</a:t>
                </a:r>
                <a:r>
                  <a:rPr lang="es-ES" sz="1600" b="1" dirty="0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s-ES" sz="1600" b="1" dirty="0" err="1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patterns</a:t>
                </a:r>
                <a:r>
                  <a:rPr lang="es-ES" sz="1600" b="1" dirty="0">
                    <a:solidFill>
                      <a:srgbClr val="1D2226"/>
                    </a:solidFill>
                    <a:latin typeface="Garamond" panose="02020404030301010803" pitchFamily="18" charset="0"/>
                  </a:rPr>
                  <a:t>:</a:t>
                </a:r>
              </a:p>
            </p:txBody>
          </p:sp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E90DAA75-D7EB-2ECD-75DB-8DC0DE2C4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0511" y="1684819"/>
                <a:ext cx="2955307" cy="1991287"/>
              </a:xfrm>
              <a:prstGeom prst="rect">
                <a:avLst/>
              </a:prstGeom>
            </p:spPr>
          </p:pic>
        </p:grpSp>
        <p:sp>
          <p:nvSpPr>
            <p:cNvPr id="48" name="TextBox 14">
              <a:extLst>
                <a:ext uri="{FF2B5EF4-FFF2-40B4-BE49-F238E27FC236}">
                  <a16:creationId xmlns:a16="http://schemas.microsoft.com/office/drawing/2014/main" id="{031C5131-D77B-D471-F098-F180421D57E7}"/>
                </a:ext>
              </a:extLst>
            </p:cNvPr>
            <p:cNvSpPr txBox="1"/>
            <p:nvPr/>
          </p:nvSpPr>
          <p:spPr>
            <a:xfrm>
              <a:off x="5634651" y="2463479"/>
              <a:ext cx="2402957" cy="433965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0">
                  <a:solidFill>
                    <a:srgbClr val="5E696F"/>
                  </a:solidFill>
                  <a:latin typeface="Aptos"/>
                </a:defRPr>
              </a:pPr>
              <a:r>
                <a:rPr lang="es-CL" sz="24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Abrupt</a:t>
              </a:r>
              <a:r>
                <a:rPr lang="es-CL" sz="2400" b="1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sz="24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loss</a:t>
              </a:r>
              <a:endParaRPr sz="2400" b="1" dirty="0">
                <a:solidFill>
                  <a:srgbClr val="C00000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EE8F309-2217-5891-EA74-605A4E6FC201}"/>
              </a:ext>
            </a:extLst>
          </p:cNvPr>
          <p:cNvGrpSpPr/>
          <p:nvPr/>
        </p:nvGrpSpPr>
        <p:grpSpPr>
          <a:xfrm>
            <a:off x="914777" y="3803510"/>
            <a:ext cx="7122831" cy="2204752"/>
            <a:chOff x="914777" y="3803510"/>
            <a:chExt cx="7122831" cy="2204752"/>
          </a:xfrm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3E7A9711-6E32-489A-BAD3-B92EBAADCAB2}"/>
                </a:ext>
              </a:extLst>
            </p:cNvPr>
            <p:cNvGrpSpPr/>
            <p:nvPr/>
          </p:nvGrpSpPr>
          <p:grpSpPr>
            <a:xfrm>
              <a:off x="914777" y="3803510"/>
              <a:ext cx="3146777" cy="2204752"/>
              <a:chOff x="914777" y="3803510"/>
              <a:chExt cx="3146777" cy="220475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1A72ED-7B49-9951-3814-52E3F42606A4}"/>
                  </a:ext>
                </a:extLst>
              </p:cNvPr>
              <p:cNvSpPr txBox="1"/>
              <p:nvPr/>
            </p:nvSpPr>
            <p:spPr>
              <a:xfrm>
                <a:off x="914777" y="3803510"/>
                <a:ext cx="3146777" cy="310854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600"/>
                  </a:spcAft>
                  <a:defRPr sz="1300" b="1">
                    <a:solidFill>
                      <a:srgbClr val="1D2226"/>
                    </a:solidFill>
                    <a:latin typeface="Aptos"/>
                  </a:defRPr>
                </a:pPr>
                <a:r>
                  <a:rPr lang="es-CL" sz="1600" dirty="0">
                    <a:latin typeface="Garamond" panose="02020404030301010803" pitchFamily="18" charset="0"/>
                  </a:rPr>
                  <a:t>R45 </a:t>
                </a:r>
                <a:r>
                  <a:rPr lang="es-CL" sz="1600" dirty="0" err="1">
                    <a:latin typeface="Garamond" panose="02020404030301010803" pitchFamily="18" charset="0"/>
                  </a:rPr>
                  <a:t>Chaotic</a:t>
                </a:r>
                <a:r>
                  <a:rPr lang="es-CL" sz="1600" dirty="0">
                    <a:latin typeface="Garamond" panose="02020404030301010803" pitchFamily="18" charset="0"/>
                  </a:rPr>
                  <a:t>, irregular </a:t>
                </a:r>
                <a:r>
                  <a:rPr lang="es-CL" sz="1600" dirty="0" err="1">
                    <a:latin typeface="Garamond" panose="02020404030301010803" pitchFamily="18" charset="0"/>
                  </a:rPr>
                  <a:t>structures</a:t>
                </a:r>
                <a:r>
                  <a:rPr lang="es-CL" sz="1600" dirty="0">
                    <a:latin typeface="Garamond" panose="02020404030301010803" pitchFamily="18" charset="0"/>
                  </a:rPr>
                  <a:t>:</a:t>
                </a:r>
                <a:endParaRPr sz="1600" dirty="0">
                  <a:latin typeface="Garamond" panose="02020404030301010803" pitchFamily="18" charset="0"/>
                </a:endParaRPr>
              </a:p>
            </p:txBody>
          </p:sp>
          <p:pic>
            <p:nvPicPr>
              <p:cNvPr id="27" name="Imagen 26">
                <a:extLst>
                  <a:ext uri="{FF2B5EF4-FFF2-40B4-BE49-F238E27FC236}">
                    <a16:creationId xmlns:a16="http://schemas.microsoft.com/office/drawing/2014/main" id="{AF4253ED-7DCE-C2FC-5196-61C1F9820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777" y="4098098"/>
                <a:ext cx="2955308" cy="1910164"/>
              </a:xfrm>
              <a:prstGeom prst="rect">
                <a:avLst/>
              </a:prstGeom>
            </p:spPr>
          </p:pic>
        </p:grp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1EA758EB-1C53-B64A-2D89-5B1838DC770E}"/>
                </a:ext>
              </a:extLst>
            </p:cNvPr>
            <p:cNvSpPr txBox="1"/>
            <p:nvPr/>
          </p:nvSpPr>
          <p:spPr>
            <a:xfrm>
              <a:off x="5082300" y="4846477"/>
              <a:ext cx="2955308" cy="433965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0">
                  <a:solidFill>
                    <a:srgbClr val="5E696F"/>
                  </a:solidFill>
                  <a:latin typeface="Aptos"/>
                </a:defRPr>
              </a:pPr>
              <a:r>
                <a:rPr lang="es-CL" sz="2400" b="1" dirty="0">
                  <a:solidFill>
                    <a:srgbClr val="C00000"/>
                  </a:solidFill>
                  <a:latin typeface="Garamond" panose="02020404030301010803" pitchFamily="18" charset="0"/>
                </a:rPr>
                <a:t>Gradual </a:t>
              </a:r>
              <a:r>
                <a:rPr lang="es-CL" sz="24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degradation</a:t>
              </a:r>
              <a:endParaRPr lang="es-CL" sz="2400" b="1" dirty="0">
                <a:solidFill>
                  <a:srgbClr val="C00000"/>
                </a:solidFill>
                <a:latin typeface="Garamond" panose="020204040303010108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38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B51FD-B6BF-6345-DD06-0B7DF728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936484-EE2E-2F39-135C-BAAA790CB4F8}"/>
              </a:ext>
            </a:extLst>
          </p:cNvPr>
          <p:cNvSpPr/>
          <p:nvPr/>
        </p:nvSpPr>
        <p:spPr>
          <a:xfrm>
            <a:off x="594360" y="6446520"/>
            <a:ext cx="10991088" cy="18288"/>
          </a:xfrm>
          <a:prstGeom prst="rect">
            <a:avLst/>
          </a:prstGeom>
          <a:solidFill>
            <a:srgbClr val="D6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D167C-DD28-9C39-BB16-063DD2DBB3A1}"/>
              </a:ext>
            </a:extLst>
          </p:cNvPr>
          <p:cNvSpPr txBox="1"/>
          <p:nvPr/>
        </p:nvSpPr>
        <p:spPr>
          <a:xfrm>
            <a:off x="676656" y="6510528"/>
            <a:ext cx="96926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Garrido (2026), Array 30, 100751; Garrido, Distinct Regimes… (manuscript)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720B0-C4F3-2C52-6247-D310E2AF78D6}"/>
              </a:ext>
            </a:extLst>
          </p:cNvPr>
          <p:cNvSpPr txBox="1"/>
          <p:nvPr/>
        </p:nvSpPr>
        <p:spPr>
          <a:xfrm>
            <a:off x="11137392" y="6510528"/>
            <a:ext cx="347472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EE9CD1-B8F3-39FF-F834-947D3635BE0E}"/>
              </a:ext>
            </a:extLst>
          </p:cNvPr>
          <p:cNvSpPr txBox="1"/>
          <p:nvPr/>
        </p:nvSpPr>
        <p:spPr>
          <a:xfrm>
            <a:off x="893595" y="831167"/>
            <a:ext cx="7538023" cy="43396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2658B"/>
                </a:solidFill>
                <a:latin typeface="Aptos"/>
              </a:defRPr>
            </a:pPr>
            <a:r>
              <a:rPr sz="2400" dirty="0">
                <a:latin typeface="Garamond" panose="02020404030301010803" pitchFamily="18" charset="0"/>
              </a:rPr>
              <a:t>OBSERVED REGIMES</a:t>
            </a:r>
            <a:r>
              <a:rPr lang="es-ES" sz="2400" dirty="0">
                <a:latin typeface="Garamond" panose="02020404030301010803" pitchFamily="18" charset="0"/>
              </a:rPr>
              <a:t> 			</a:t>
            </a:r>
            <a:r>
              <a:rPr lang="es-CL" sz="2400" dirty="0">
                <a:latin typeface="Garamond" panose="02020404030301010803" pitchFamily="18" charset="0"/>
              </a:rPr>
              <a:t>RESULTS</a:t>
            </a:r>
            <a:endParaRPr sz="2400" dirty="0">
              <a:latin typeface="Garamond" panose="02020404030301010803" pitchFamily="18" charset="0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099F4B2-9E22-CE34-C038-BA85023EF49C}"/>
              </a:ext>
            </a:extLst>
          </p:cNvPr>
          <p:cNvGrpSpPr/>
          <p:nvPr/>
        </p:nvGrpSpPr>
        <p:grpSpPr>
          <a:xfrm>
            <a:off x="484632" y="292608"/>
            <a:ext cx="10963656" cy="493776"/>
            <a:chOff x="484632" y="292608"/>
            <a:chExt cx="10963656" cy="493776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5C68A6C3-B070-CDD7-E92E-877081841D98}"/>
                </a:ext>
              </a:extLst>
            </p:cNvPr>
            <p:cNvSpPr/>
            <p:nvPr/>
          </p:nvSpPr>
          <p:spPr>
            <a:xfrm>
              <a:off x="484632" y="347472"/>
              <a:ext cx="96012" cy="438912"/>
            </a:xfrm>
            <a:prstGeom prst="rect">
              <a:avLst/>
            </a:prstGeom>
            <a:solidFill>
              <a:srgbClr val="00AE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2">
              <a:extLst>
                <a:ext uri="{FF2B5EF4-FFF2-40B4-BE49-F238E27FC236}">
                  <a16:creationId xmlns:a16="http://schemas.microsoft.com/office/drawing/2014/main" id="{6AFB783F-368D-8384-CE17-E723D88D02FD}"/>
                </a:ext>
              </a:extLst>
            </p:cNvPr>
            <p:cNvSpPr txBox="1"/>
            <p:nvPr/>
          </p:nvSpPr>
          <p:spPr>
            <a:xfrm>
              <a:off x="749808" y="292608"/>
              <a:ext cx="10698480" cy="438912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2500" b="1">
                  <a:solidFill>
                    <a:srgbClr val="1D2226"/>
                  </a:solidFill>
                  <a:latin typeface="Georgia"/>
                </a:defRPr>
              </a:pPr>
              <a:r>
                <a:rPr dirty="0"/>
                <a:t>Predictive limits depend on the dynamics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F3D48E6-BF7C-AD42-3F8B-705B6890C43D}"/>
              </a:ext>
            </a:extLst>
          </p:cNvPr>
          <p:cNvGrpSpPr/>
          <p:nvPr/>
        </p:nvGrpSpPr>
        <p:grpSpPr>
          <a:xfrm>
            <a:off x="730128" y="3615317"/>
            <a:ext cx="6872151" cy="2509578"/>
            <a:chOff x="749808" y="3338845"/>
            <a:chExt cx="6872151" cy="2509578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AA4FC37-6FD3-24DE-3397-AB22925049DD}"/>
                </a:ext>
              </a:extLst>
            </p:cNvPr>
            <p:cNvGrpSpPr/>
            <p:nvPr/>
          </p:nvGrpSpPr>
          <p:grpSpPr>
            <a:xfrm>
              <a:off x="749808" y="3338845"/>
              <a:ext cx="4299072" cy="2509578"/>
              <a:chOff x="893595" y="3675147"/>
              <a:chExt cx="4299072" cy="250957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653A6B-0CC5-C4B2-C4B5-EF9323A3E13A}"/>
                  </a:ext>
                </a:extLst>
              </p:cNvPr>
              <p:cNvSpPr txBox="1"/>
              <p:nvPr/>
            </p:nvSpPr>
            <p:spPr>
              <a:xfrm>
                <a:off x="893595" y="3675147"/>
                <a:ext cx="4299072" cy="310854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600"/>
                  </a:spcAft>
                  <a:defRPr sz="1300" b="1">
                    <a:solidFill>
                      <a:srgbClr val="1D2226"/>
                    </a:solidFill>
                    <a:latin typeface="Aptos"/>
                  </a:defRPr>
                </a:pPr>
                <a:r>
                  <a:rPr lang="es-ES" sz="1600" dirty="0">
                    <a:latin typeface="Garamond" panose="02020404030301010803" pitchFamily="18" charset="0"/>
                  </a:rPr>
                  <a:t>R110: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Complex</a:t>
                </a:r>
                <a:r>
                  <a:rPr lang="es-ES" sz="1600" dirty="0">
                    <a:latin typeface="Garamond" panose="02020404030301010803" pitchFamily="18" charset="0"/>
                  </a:rPr>
                  <a:t>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dynamics</a:t>
                </a:r>
                <a:r>
                  <a:rPr lang="es-ES" sz="1600" dirty="0">
                    <a:latin typeface="Garamond" panose="02020404030301010803" pitchFamily="18" charset="0"/>
                  </a:rPr>
                  <a:t> /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persistent</a:t>
                </a:r>
                <a:r>
                  <a:rPr lang="es-ES" sz="1600" dirty="0">
                    <a:latin typeface="Garamond" panose="02020404030301010803" pitchFamily="18" charset="0"/>
                  </a:rPr>
                  <a:t>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structures</a:t>
                </a:r>
                <a:r>
                  <a:rPr lang="es-ES" sz="1600" dirty="0">
                    <a:latin typeface="Garamond" panose="02020404030301010803" pitchFamily="18" charset="0"/>
                  </a:rPr>
                  <a:t>:</a:t>
                </a:r>
                <a:endParaRPr sz="1600" dirty="0">
                  <a:latin typeface="Garamond" panose="02020404030301010803" pitchFamily="18" charset="0"/>
                </a:endParaRPr>
              </a:p>
            </p:txBody>
          </p:sp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AFB0D6C4-71B2-3448-ACC5-BF04D20DE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7239" y="3938725"/>
                <a:ext cx="2039265" cy="2246000"/>
              </a:xfrm>
              <a:prstGeom prst="rect">
                <a:avLst/>
              </a:prstGeom>
            </p:spPr>
          </p:pic>
        </p:grp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B03D887F-D156-06D8-701E-BD0E89A7F7D3}"/>
                </a:ext>
              </a:extLst>
            </p:cNvPr>
            <p:cNvSpPr txBox="1"/>
            <p:nvPr/>
          </p:nvSpPr>
          <p:spPr>
            <a:xfrm>
              <a:off x="4208908" y="4533140"/>
              <a:ext cx="34130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Sustained</a:t>
              </a:r>
              <a:r>
                <a:rPr lang="es-CL" sz="2000" b="1" dirty="0">
                  <a:solidFill>
                    <a:srgbClr val="C00000"/>
                  </a:solidFill>
                  <a:latin typeface="Garamond" panose="02020404030301010803" pitchFamily="18" charset="0"/>
                </a:rPr>
                <a:t> predictive </a:t>
              </a:r>
              <a:r>
                <a:rPr lang="es-CL" sz="20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structure</a:t>
              </a:r>
              <a:endParaRPr lang="es-CL" sz="2000" b="1" dirty="0">
                <a:solidFill>
                  <a:srgbClr val="C00000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27360F67-5AE4-9BE3-8DF3-E870E9523164}"/>
              </a:ext>
            </a:extLst>
          </p:cNvPr>
          <p:cNvGrpSpPr/>
          <p:nvPr/>
        </p:nvGrpSpPr>
        <p:grpSpPr>
          <a:xfrm>
            <a:off x="749807" y="1310852"/>
            <a:ext cx="7838692" cy="1703909"/>
            <a:chOff x="749807" y="1310852"/>
            <a:chExt cx="7838692" cy="1703909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2D88143-9B35-CED2-D39B-5A1B92391575}"/>
                </a:ext>
              </a:extLst>
            </p:cNvPr>
            <p:cNvGrpSpPr/>
            <p:nvPr/>
          </p:nvGrpSpPr>
          <p:grpSpPr>
            <a:xfrm>
              <a:off x="749807" y="1310852"/>
              <a:ext cx="3609919" cy="1703909"/>
              <a:chOff x="893594" y="1558477"/>
              <a:chExt cx="3609919" cy="1703909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4FA1D4-5784-46AD-60BB-240E2161E928}"/>
                  </a:ext>
                </a:extLst>
              </p:cNvPr>
              <p:cNvSpPr txBox="1"/>
              <p:nvPr/>
            </p:nvSpPr>
            <p:spPr>
              <a:xfrm>
                <a:off x="893594" y="1558477"/>
                <a:ext cx="3269299" cy="557076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600"/>
                  </a:spcAft>
                  <a:defRPr sz="1300" b="1">
                    <a:solidFill>
                      <a:srgbClr val="1D2226"/>
                    </a:solidFill>
                    <a:latin typeface="Aptos"/>
                  </a:defRPr>
                </a:pPr>
                <a:r>
                  <a:rPr lang="es-ES" sz="1600" dirty="0">
                    <a:latin typeface="Garamond" panose="02020404030301010803" pitchFamily="18" charset="0"/>
                  </a:rPr>
                  <a:t>R90: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Additive</a:t>
                </a:r>
                <a:r>
                  <a:rPr lang="es-ES" sz="1600" dirty="0">
                    <a:latin typeface="Garamond" panose="02020404030301010803" pitchFamily="18" charset="0"/>
                  </a:rPr>
                  <a:t> XOR /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self</a:t>
                </a:r>
                <a:r>
                  <a:rPr lang="es-ES" sz="1600" dirty="0">
                    <a:latin typeface="Garamond" panose="02020404030301010803" pitchFamily="18" charset="0"/>
                  </a:rPr>
                  <a:t>-similar </a:t>
                </a:r>
                <a:r>
                  <a:rPr lang="es-ES" sz="1600" dirty="0" err="1">
                    <a:latin typeface="Garamond" panose="02020404030301010803" pitchFamily="18" charset="0"/>
                  </a:rPr>
                  <a:t>patterns.structures</a:t>
                </a:r>
                <a:r>
                  <a:rPr lang="es-ES" sz="1600" dirty="0">
                    <a:latin typeface="Garamond" panose="02020404030301010803" pitchFamily="18" charset="0"/>
                  </a:rPr>
                  <a:t>:</a:t>
                </a:r>
                <a:endParaRPr sz="1600" dirty="0">
                  <a:latin typeface="Garamond" panose="02020404030301010803" pitchFamily="18" charset="0"/>
                </a:endParaRPr>
              </a:p>
            </p:txBody>
          </p:sp>
          <p:pic>
            <p:nvPicPr>
              <p:cNvPr id="39" name="Imagen 38">
                <a:extLst>
                  <a:ext uri="{FF2B5EF4-FFF2-40B4-BE49-F238E27FC236}">
                    <a16:creationId xmlns:a16="http://schemas.microsoft.com/office/drawing/2014/main" id="{A71044D5-1CDA-BA30-0B2E-54D203798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3595" y="1884688"/>
                <a:ext cx="3609918" cy="1377698"/>
              </a:xfrm>
              <a:prstGeom prst="rect">
                <a:avLst/>
              </a:prstGeom>
            </p:spPr>
          </p:pic>
        </p:grp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636DF26B-3DD1-E2E4-B3BB-C3C0C1E6C2E1}"/>
                </a:ext>
              </a:extLst>
            </p:cNvPr>
            <p:cNvSpPr txBox="1"/>
            <p:nvPr/>
          </p:nvSpPr>
          <p:spPr>
            <a:xfrm>
              <a:off x="4770281" y="2108240"/>
              <a:ext cx="3818218" cy="372410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0">
                  <a:solidFill>
                    <a:srgbClr val="5E696F"/>
                  </a:solidFill>
                  <a:latin typeface="Aptos"/>
                </a:defRPr>
              </a:pPr>
              <a:r>
                <a:rPr lang="es-CL" sz="2000" b="1" dirty="0">
                  <a:solidFill>
                    <a:srgbClr val="C00000"/>
                  </a:solidFill>
                  <a:latin typeface="Garamond" panose="02020404030301010803" pitchFamily="18" charset="0"/>
                </a:rPr>
                <a:t> Near-chance </a:t>
              </a:r>
              <a:r>
                <a:rPr lang="es-CL" sz="2000" b="1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prediction</a:t>
              </a:r>
              <a:endParaRPr lang="es-CL" sz="2000" b="1" dirty="0">
                <a:solidFill>
                  <a:srgbClr val="C00000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9058433-DB7E-8DDB-C3F8-AFC8F7F94719}"/>
              </a:ext>
            </a:extLst>
          </p:cNvPr>
          <p:cNvGrpSpPr/>
          <p:nvPr/>
        </p:nvGrpSpPr>
        <p:grpSpPr>
          <a:xfrm>
            <a:off x="1629338" y="2647162"/>
            <a:ext cx="8532829" cy="2247164"/>
            <a:chOff x="907170" y="4151377"/>
            <a:chExt cx="9207796" cy="1268875"/>
          </a:xfrm>
        </p:grpSpPr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C09F8B6F-6E30-0A3A-5C4E-1968F1004F3E}"/>
                </a:ext>
              </a:extLst>
            </p:cNvPr>
            <p:cNvSpPr/>
            <p:nvPr/>
          </p:nvSpPr>
          <p:spPr>
            <a:xfrm>
              <a:off x="907170" y="4151377"/>
              <a:ext cx="9207796" cy="1268875"/>
            </a:xfrm>
            <a:prstGeom prst="rect">
              <a:avLst/>
            </a:prstGeom>
            <a:solidFill>
              <a:srgbClr val="E7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32654980-D6FE-0A8E-6E7D-7D8A9E1065BD}"/>
                </a:ext>
              </a:extLst>
            </p:cNvPr>
            <p:cNvSpPr txBox="1"/>
            <p:nvPr/>
          </p:nvSpPr>
          <p:spPr>
            <a:xfrm>
              <a:off x="1294619" y="4207316"/>
              <a:ext cx="8314663" cy="1116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400" b="1" dirty="0">
                  <a:solidFill>
                    <a:srgbClr val="C00000"/>
                  </a:solidFill>
                  <a:latin typeface="Garamond" panose="02020404030301010803" pitchFamily="18" charset="0"/>
                </a:rPr>
                <a:t>TAKEAWAY</a:t>
              </a:r>
              <a:r>
                <a:rPr lang="es-CL" sz="2400" dirty="0">
                  <a:latin typeface="Garamond" panose="02020404030301010803" pitchFamily="18" charset="0"/>
                </a:rPr>
                <a:t>   </a:t>
              </a:r>
              <a:r>
                <a:rPr lang="es-CL" sz="2400" dirty="0" err="1">
                  <a:latin typeface="Garamond" panose="02020404030301010803" pitchFamily="18" charset="0"/>
                </a:rPr>
                <a:t>Determinism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does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not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guarantee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learnability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or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predictability</a:t>
              </a:r>
              <a:r>
                <a:rPr lang="es-CL" sz="2400" dirty="0">
                  <a:latin typeface="Garamond" panose="02020404030301010803" pitchFamily="18" charset="0"/>
                </a:rPr>
                <a:t>. </a:t>
              </a:r>
              <a:r>
                <a:rPr lang="es-CL" sz="2400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LSTM</a:t>
              </a:r>
              <a:r>
                <a:rPr lang="es-CL" sz="2400" dirty="0" err="1">
                  <a:latin typeface="Garamond" panose="02020404030301010803" pitchFamily="18" charset="0"/>
                </a:rPr>
                <a:t>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perform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well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on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certain</a:t>
              </a:r>
              <a:r>
                <a:rPr lang="es-CL" sz="2400" dirty="0">
                  <a:latin typeface="Garamond" panose="02020404030301010803" pitchFamily="18" charset="0"/>
                </a:rPr>
                <a:t> local temporal </a:t>
              </a:r>
              <a:r>
                <a:rPr lang="es-CL" sz="2400" dirty="0" err="1">
                  <a:latin typeface="Garamond" panose="02020404030301010803" pitchFamily="18" charset="0"/>
                </a:rPr>
                <a:t>dependencies</a:t>
              </a:r>
              <a:r>
                <a:rPr lang="es-CL" sz="2400" dirty="0">
                  <a:latin typeface="Garamond" panose="02020404030301010803" pitchFamily="18" charset="0"/>
                </a:rPr>
                <a:t>, </a:t>
              </a:r>
              <a:r>
                <a:rPr lang="es-CL" sz="2400" dirty="0" err="1">
                  <a:latin typeface="Garamond" panose="02020404030301010803" pitchFamily="18" charset="0"/>
                </a:rPr>
                <a:t>while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Transformers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better</a:t>
              </a:r>
              <a:r>
                <a:rPr lang="es-CL" sz="2400" dirty="0">
                  <a:latin typeface="Garamond" panose="02020404030301010803" pitchFamily="18" charset="0"/>
                </a:rPr>
                <a:t> capture </a:t>
              </a:r>
              <a:r>
                <a:rPr lang="es-CL" sz="2400" dirty="0" err="1">
                  <a:latin typeface="Garamond" panose="02020404030301010803" pitchFamily="18" charset="0"/>
                </a:rPr>
                <a:t>some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long-range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patterns</a:t>
              </a:r>
              <a:r>
                <a:rPr lang="es-CL" sz="2400" dirty="0">
                  <a:latin typeface="Garamond" panose="02020404030301010803" pitchFamily="18" charset="0"/>
                </a:rPr>
                <a:t>. </a:t>
              </a:r>
              <a:r>
                <a:rPr lang="es-CL" sz="2400" dirty="0" err="1">
                  <a:latin typeface="Garamond" panose="02020404030301010803" pitchFamily="18" charset="0"/>
                </a:rPr>
                <a:t>Predictability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is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related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to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how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information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is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organized</a:t>
              </a:r>
              <a:r>
                <a:rPr lang="es-CL" sz="2400" dirty="0">
                  <a:latin typeface="Garamond" panose="02020404030301010803" pitchFamily="18" charset="0"/>
                </a:rPr>
                <a:t> and </a:t>
              </a:r>
              <a:r>
                <a:rPr lang="es-CL" sz="2400" dirty="0" err="1">
                  <a:latin typeface="Garamond" panose="02020404030301010803" pitchFamily="18" charset="0"/>
                </a:rPr>
                <a:t>propagated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within</a:t>
              </a:r>
              <a:r>
                <a:rPr lang="es-CL" sz="2400" dirty="0">
                  <a:latin typeface="Garamond" panose="02020404030301010803" pitchFamily="18" charset="0"/>
                </a:rPr>
                <a:t> a </a:t>
              </a:r>
              <a:r>
                <a:rPr lang="es-CL" sz="2400" dirty="0" err="1">
                  <a:latin typeface="Garamond" panose="02020404030301010803" pitchFamily="18" charset="0"/>
                </a:rPr>
                <a:t>system</a:t>
              </a:r>
              <a:r>
                <a:rPr lang="es-CL" sz="2400" dirty="0">
                  <a:latin typeface="Garamond" panose="02020404030301010803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79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4632" y="347472"/>
            <a:ext cx="96012" cy="438912"/>
          </a:xfrm>
          <a:prstGeom prst="rect">
            <a:avLst/>
          </a:prstGeom>
          <a:solidFill>
            <a:srgbClr val="00A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106984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D2226"/>
                </a:solidFill>
                <a:latin typeface="Georgia"/>
              </a:defRPr>
            </a:pPr>
            <a:r>
              <a:t>Observation scale changes what we can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91088" cy="18288"/>
          </a:xfrm>
          <a:prstGeom prst="rect">
            <a:avLst/>
          </a:prstGeom>
          <a:solidFill>
            <a:srgbClr val="D6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6510528"/>
            <a:ext cx="96926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Garrido (2026), Spatial Statistics 75, 101026; DOI 10.1016/j.spasta.2026.101026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10528"/>
            <a:ext cx="347472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3" name="Imagen 102">
            <a:extLst>
              <a:ext uri="{FF2B5EF4-FFF2-40B4-BE49-F238E27FC236}">
                <a16:creationId xmlns:a16="http://schemas.microsoft.com/office/drawing/2014/main" id="{E474989F-9516-C7D0-65BA-3016A1B84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2" y="707395"/>
            <a:ext cx="7791326" cy="3387533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451FA573-BA8F-84E3-6F36-E0877FA3A8AB}"/>
              </a:ext>
            </a:extLst>
          </p:cNvPr>
          <p:cNvGrpSpPr/>
          <p:nvPr/>
        </p:nvGrpSpPr>
        <p:grpSpPr>
          <a:xfrm>
            <a:off x="2243468" y="4278574"/>
            <a:ext cx="6836735" cy="1507265"/>
            <a:chOff x="6996223" y="2168177"/>
            <a:chExt cx="5007935" cy="1205155"/>
          </a:xfrm>
        </p:grpSpPr>
        <p:sp>
          <p:nvSpPr>
            <p:cNvPr id="113" name="TextBox 8">
              <a:extLst>
                <a:ext uri="{FF2B5EF4-FFF2-40B4-BE49-F238E27FC236}">
                  <a16:creationId xmlns:a16="http://schemas.microsoft.com/office/drawing/2014/main" id="{68797246-F82B-A1CD-E794-968365CB6353}"/>
                </a:ext>
              </a:extLst>
            </p:cNvPr>
            <p:cNvSpPr txBox="1"/>
            <p:nvPr/>
          </p:nvSpPr>
          <p:spPr>
            <a:xfrm>
              <a:off x="6996223" y="2168177"/>
              <a:ext cx="4882812" cy="34698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600"/>
                </a:spcAft>
                <a:defRPr sz="1200" b="1">
                  <a:solidFill>
                    <a:srgbClr val="12658B"/>
                  </a:solidFill>
                  <a:latin typeface="Aptos"/>
                </a:defRPr>
              </a:pPr>
              <a:r>
                <a:rPr sz="2400" dirty="0">
                  <a:latin typeface="Garamond" panose="02020404030301010803" pitchFamily="18" charset="0"/>
                </a:rPr>
                <a:t>SCIENTIFIC QUESTION</a:t>
              </a:r>
            </a:p>
          </p:txBody>
        </p:sp>
        <p:sp>
          <p:nvSpPr>
            <p:cNvPr id="114" name="CuadroTexto 113">
              <a:extLst>
                <a:ext uri="{FF2B5EF4-FFF2-40B4-BE49-F238E27FC236}">
                  <a16:creationId xmlns:a16="http://schemas.microsoft.com/office/drawing/2014/main" id="{16D63D0D-C165-BCD0-5B0E-981CFC52D216}"/>
                </a:ext>
              </a:extLst>
            </p:cNvPr>
            <p:cNvSpPr txBox="1"/>
            <p:nvPr/>
          </p:nvSpPr>
          <p:spPr>
            <a:xfrm>
              <a:off x="6996223" y="2413591"/>
              <a:ext cx="5007935" cy="959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400" dirty="0" err="1">
                  <a:latin typeface="Garamond" panose="02020404030301010803" pitchFamily="18" charset="0"/>
                </a:rPr>
                <a:t>To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what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extent</a:t>
              </a:r>
              <a:r>
                <a:rPr lang="es-CL" sz="2400" dirty="0">
                  <a:latin typeface="Garamond" panose="02020404030301010803" pitchFamily="18" charset="0"/>
                </a:rPr>
                <a:t> are </a:t>
              </a:r>
              <a:r>
                <a:rPr lang="es-CL" sz="2400" dirty="0" err="1">
                  <a:latin typeface="Garamond" panose="02020404030301010803" pitchFamily="18" charset="0"/>
                </a:rPr>
                <a:t>changes</a:t>
              </a:r>
              <a:r>
                <a:rPr lang="es-CL" sz="2400" dirty="0">
                  <a:latin typeface="Garamond" panose="02020404030301010803" pitchFamily="18" charset="0"/>
                </a:rPr>
                <a:t> in </a:t>
              </a:r>
              <a:r>
                <a:rPr lang="es-CL" sz="2400" dirty="0" err="1">
                  <a:latin typeface="Garamond" panose="02020404030301010803" pitchFamily="18" charset="0"/>
                </a:rPr>
                <a:t>urban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demand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driven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by</a:t>
              </a:r>
              <a:r>
                <a:rPr lang="es-CL" sz="2400" dirty="0">
                  <a:latin typeface="Garamond" panose="02020404030301010803" pitchFamily="18" charset="0"/>
                </a:rPr>
                <a:t> temporal </a:t>
              </a:r>
              <a:r>
                <a:rPr lang="es-CL" sz="2400" dirty="0" err="1">
                  <a:latin typeface="Garamond" panose="02020404030301010803" pitchFamily="18" charset="0"/>
                </a:rPr>
                <a:t>reallocation</a:t>
              </a:r>
              <a:r>
                <a:rPr lang="es-CL" sz="2400" dirty="0">
                  <a:latin typeface="Garamond" panose="02020404030301010803" pitchFamily="18" charset="0"/>
                </a:rPr>
                <a:t> versus </a:t>
              </a:r>
              <a:r>
                <a:rPr lang="es-CL" sz="2400" dirty="0" err="1">
                  <a:latin typeface="Garamond" panose="02020404030301010803" pitchFamily="18" charset="0"/>
                </a:rPr>
                <a:t>spatial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redistribution</a:t>
              </a:r>
              <a:r>
                <a:rPr lang="es-CL" sz="2400" dirty="0">
                  <a:latin typeface="Garamond" panose="02020404030301010803" pitchFamily="18" charset="0"/>
                </a:rPr>
                <a:t>, and </a:t>
              </a:r>
              <a:r>
                <a:rPr lang="es-CL" sz="2400" dirty="0" err="1">
                  <a:latin typeface="Garamond" panose="02020404030301010803" pitchFamily="18" charset="0"/>
                </a:rPr>
                <a:t>how</a:t>
              </a:r>
              <a:r>
                <a:rPr lang="es-CL" sz="2400" dirty="0">
                  <a:latin typeface="Garamond" panose="02020404030301010803" pitchFamily="18" charset="0"/>
                </a:rPr>
                <a:t> do </a:t>
              </a:r>
              <a:r>
                <a:rPr lang="es-CL" sz="2400" dirty="0" err="1">
                  <a:latin typeface="Garamond" panose="02020404030301010803" pitchFamily="18" charset="0"/>
                </a:rPr>
                <a:t>these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patterns</a:t>
              </a:r>
              <a:r>
                <a:rPr lang="es-CL" sz="2400" dirty="0">
                  <a:latin typeface="Garamond" panose="02020404030301010803" pitchFamily="18" charset="0"/>
                </a:rPr>
                <a:t> relate </a:t>
              </a:r>
              <a:r>
                <a:rPr lang="es-CL" sz="2400" dirty="0" err="1">
                  <a:latin typeface="Garamond" panose="02020404030301010803" pitchFamily="18" charset="0"/>
                </a:rPr>
                <a:t>to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economic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value</a:t>
              </a:r>
              <a:r>
                <a:rPr lang="es-CL" sz="2400" dirty="0">
                  <a:latin typeface="Garamond" panose="02020404030301010803" pitchFamily="18" charset="0"/>
                </a:rPr>
                <a:t>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172AC-A9D6-2DA3-A014-AF576F1A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3CDF0F-3774-DA36-CBDF-BE1171941E92}"/>
              </a:ext>
            </a:extLst>
          </p:cNvPr>
          <p:cNvSpPr/>
          <p:nvPr/>
        </p:nvSpPr>
        <p:spPr>
          <a:xfrm>
            <a:off x="484632" y="347472"/>
            <a:ext cx="96012" cy="438912"/>
          </a:xfrm>
          <a:prstGeom prst="rect">
            <a:avLst/>
          </a:prstGeom>
          <a:solidFill>
            <a:srgbClr val="00A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CFADE-CA5B-8F33-89F9-8E4DC589DC78}"/>
              </a:ext>
            </a:extLst>
          </p:cNvPr>
          <p:cNvSpPr txBox="1"/>
          <p:nvPr/>
        </p:nvSpPr>
        <p:spPr>
          <a:xfrm>
            <a:off x="749808" y="292608"/>
            <a:ext cx="106984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D2226"/>
                </a:solidFill>
                <a:latin typeface="Georgia"/>
              </a:defRPr>
            </a:pPr>
            <a:r>
              <a:t>Observation scale changes what we can see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97CBF-E229-EDCC-C9DA-0BDE12E1F6E4}"/>
              </a:ext>
            </a:extLst>
          </p:cNvPr>
          <p:cNvSpPr/>
          <p:nvPr/>
        </p:nvSpPr>
        <p:spPr>
          <a:xfrm>
            <a:off x="594360" y="6446520"/>
            <a:ext cx="10991088" cy="18288"/>
          </a:xfrm>
          <a:prstGeom prst="rect">
            <a:avLst/>
          </a:prstGeom>
          <a:solidFill>
            <a:srgbClr val="D6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001C5-D717-F84E-42C1-AB261F36B718}"/>
              </a:ext>
            </a:extLst>
          </p:cNvPr>
          <p:cNvSpPr txBox="1"/>
          <p:nvPr/>
        </p:nvSpPr>
        <p:spPr>
          <a:xfrm>
            <a:off x="676656" y="6510528"/>
            <a:ext cx="96926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Garrido (2026), Spatial Statistics 75, 101026; DOI 10.1016/j.spasta.2026.101026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C9D06-4573-5B76-36E2-09E0F42BA873}"/>
              </a:ext>
            </a:extLst>
          </p:cNvPr>
          <p:cNvSpPr txBox="1"/>
          <p:nvPr/>
        </p:nvSpPr>
        <p:spPr>
          <a:xfrm>
            <a:off x="11137392" y="6510528"/>
            <a:ext cx="347472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600"/>
              </a:spcAft>
              <a:defRPr sz="800" b="0">
                <a:solidFill>
                  <a:srgbClr val="5E696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2D9506-699C-7D84-4614-A5E44F5048C0}"/>
              </a:ext>
            </a:extLst>
          </p:cNvPr>
          <p:cNvSpPr txBox="1"/>
          <p:nvPr/>
        </p:nvSpPr>
        <p:spPr>
          <a:xfrm>
            <a:off x="676656" y="5751575"/>
            <a:ext cx="10488168" cy="29546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D2226"/>
                </a:solidFill>
                <a:latin typeface="Aptos"/>
              </a:defRPr>
            </a:pPr>
            <a:r>
              <a:rPr lang="es-CL" dirty="0">
                <a:latin typeface="Garamond" panose="02020404030301010803" pitchFamily="18" charset="0"/>
              </a:rPr>
              <a:t>.</a:t>
            </a:r>
            <a:endParaRPr dirty="0">
              <a:latin typeface="Garamond" panose="02020404030301010803" pitchFamily="18" charset="0"/>
            </a:endParaRPr>
          </a:p>
        </p:txBody>
      </p:sp>
      <p:pic>
        <p:nvPicPr>
          <p:cNvPr id="115" name="Imagen 114">
            <a:extLst>
              <a:ext uri="{FF2B5EF4-FFF2-40B4-BE49-F238E27FC236}">
                <a16:creationId xmlns:a16="http://schemas.microsoft.com/office/drawing/2014/main" id="{D22978A9-B497-1BAE-A034-5CDC68D12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32" y="731520"/>
            <a:ext cx="7474688" cy="4983126"/>
          </a:xfrm>
          <a:prstGeom prst="rect">
            <a:avLst/>
          </a:prstGeom>
          <a:solidFill>
            <a:srgbClr val="FFFFFF">
              <a:alpha val="38000"/>
            </a:srgbClr>
          </a:solidFill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6CF89775-213A-D787-44EE-3F99A83F9273}"/>
              </a:ext>
            </a:extLst>
          </p:cNvPr>
          <p:cNvGrpSpPr/>
          <p:nvPr/>
        </p:nvGrpSpPr>
        <p:grpSpPr>
          <a:xfrm>
            <a:off x="484632" y="5001344"/>
            <a:ext cx="10680192" cy="1305351"/>
            <a:chOff x="580644" y="5056846"/>
            <a:chExt cx="10680192" cy="1305351"/>
          </a:xfrm>
        </p:grpSpPr>
        <p:sp>
          <p:nvSpPr>
            <p:cNvPr id="11" name="Rectangle 99">
              <a:extLst>
                <a:ext uri="{FF2B5EF4-FFF2-40B4-BE49-F238E27FC236}">
                  <a16:creationId xmlns:a16="http://schemas.microsoft.com/office/drawing/2014/main" id="{D14AF65C-60E7-3D2E-D17B-8B15DF493289}"/>
                </a:ext>
              </a:extLst>
            </p:cNvPr>
            <p:cNvSpPr/>
            <p:nvPr/>
          </p:nvSpPr>
          <p:spPr>
            <a:xfrm>
              <a:off x="580644" y="5056846"/>
              <a:ext cx="10584180" cy="1305351"/>
            </a:xfrm>
            <a:prstGeom prst="rect">
              <a:avLst/>
            </a:prstGeom>
            <a:solidFill>
              <a:srgbClr val="E7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AACE4C2-726B-BE43-53C3-1D5311A81107}"/>
                </a:ext>
              </a:extLst>
            </p:cNvPr>
            <p:cNvSpPr txBox="1"/>
            <p:nvPr/>
          </p:nvSpPr>
          <p:spPr>
            <a:xfrm>
              <a:off x="804885" y="5138178"/>
              <a:ext cx="10455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400" dirty="0">
                  <a:solidFill>
                    <a:srgbClr val="C00000"/>
                  </a:solidFill>
                  <a:latin typeface="Garamond" panose="02020404030301010803" pitchFamily="18" charset="0"/>
                </a:rPr>
                <a:t>TAKEAWAY</a:t>
              </a:r>
              <a:r>
                <a:rPr lang="es-CL" sz="2400" dirty="0">
                  <a:latin typeface="Garamond" panose="02020404030301010803" pitchFamily="18" charset="0"/>
                </a:rPr>
                <a:t>:   Urban </a:t>
              </a:r>
              <a:r>
                <a:rPr lang="es-CL" sz="2400" dirty="0" err="1">
                  <a:latin typeface="Garamond" panose="02020404030301010803" pitchFamily="18" charset="0"/>
                </a:rPr>
                <a:t>demand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variation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is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primarily</a:t>
              </a:r>
              <a:r>
                <a:rPr lang="es-CL" sz="2400" dirty="0">
                  <a:latin typeface="Garamond" panose="02020404030301010803" pitchFamily="18" charset="0"/>
                </a:rPr>
                <a:t> temporal, </a:t>
              </a:r>
              <a:r>
                <a:rPr lang="es-CL" sz="2400" dirty="0" err="1">
                  <a:latin typeface="Garamond" panose="02020404030301010803" pitchFamily="18" charset="0"/>
                </a:rPr>
                <a:t>spatial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differences</a:t>
              </a:r>
              <a:r>
                <a:rPr lang="es-CL" sz="2400" dirty="0">
                  <a:latin typeface="Garamond" panose="02020404030301010803" pitchFamily="18" charset="0"/>
                </a:rPr>
                <a:t> are </a:t>
              </a:r>
              <a:r>
                <a:rPr lang="es-CL" sz="2400" dirty="0" err="1">
                  <a:latin typeface="Garamond" panose="02020404030301010803" pitchFamily="18" charset="0"/>
                </a:rPr>
                <a:t>concentrated</a:t>
              </a:r>
              <a:r>
                <a:rPr lang="es-CL" sz="2400" dirty="0">
                  <a:latin typeface="Garamond" panose="02020404030301010803" pitchFamily="18" charset="0"/>
                </a:rPr>
                <a:t> in a </a:t>
              </a:r>
              <a:r>
                <a:rPr lang="es-CL" sz="2400" dirty="0" err="1">
                  <a:latin typeface="Garamond" panose="02020404030301010803" pitchFamily="18" charset="0"/>
                </a:rPr>
                <a:t>few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hotspots</a:t>
              </a:r>
              <a:r>
                <a:rPr lang="es-CL" sz="2400" dirty="0">
                  <a:latin typeface="Garamond" panose="02020404030301010803" pitchFamily="18" charset="0"/>
                </a:rPr>
                <a:t>, and </a:t>
              </a:r>
              <a:r>
                <a:rPr lang="es-CL" sz="2400" dirty="0" err="1">
                  <a:latin typeface="Garamond" panose="02020404030301010803" pitchFamily="18" charset="0"/>
                </a:rPr>
                <a:t>persistent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demand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does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not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necessarily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imply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economic</a:t>
              </a:r>
              <a:r>
                <a:rPr lang="es-CL" sz="2400" dirty="0">
                  <a:latin typeface="Garamond" panose="02020404030301010803" pitchFamily="18" charset="0"/>
                </a:rPr>
                <a:t> </a:t>
              </a:r>
              <a:r>
                <a:rPr lang="es-CL" sz="2400" dirty="0" err="1">
                  <a:latin typeface="Garamond" panose="02020404030301010803" pitchFamily="18" charset="0"/>
                </a:rPr>
                <a:t>relevance</a:t>
              </a:r>
              <a:endParaRPr lang="es-CL" sz="2400" dirty="0">
                <a:latin typeface="Garamond" panose="020204040303010108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38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F06E72E1-1CE6-D498-2487-432CD612C325}"/>
              </a:ext>
            </a:extLst>
          </p:cNvPr>
          <p:cNvGrpSpPr/>
          <p:nvPr/>
        </p:nvGrpSpPr>
        <p:grpSpPr>
          <a:xfrm>
            <a:off x="2697906" y="2168258"/>
            <a:ext cx="6595386" cy="3934422"/>
            <a:chOff x="1173906" y="2152167"/>
            <a:chExt cx="6595386" cy="3934422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EB3D0B7-B641-E540-236A-14ED3CDA3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0853" y="5305097"/>
              <a:ext cx="503298" cy="781492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4B5DF3C-9D8D-45A5-6187-D89AABE6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1154" y="3589815"/>
              <a:ext cx="609600" cy="729740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FEA1FDD-A66D-2358-39C8-85076B243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0006" y="4043739"/>
              <a:ext cx="609600" cy="729740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41FCEC6-6F00-7B40-BEF1-E951F427F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9692" y="4043739"/>
              <a:ext cx="609600" cy="72974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D005317-39ED-7BD7-CD6B-69D38685F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4331" y="2152167"/>
              <a:ext cx="609600" cy="729740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69FFB91A-0824-4BD5-6721-A48CEDEDE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3906" y="2851255"/>
              <a:ext cx="503298" cy="781492"/>
            </a:xfrm>
            <a:prstGeom prst="rect">
              <a:avLst/>
            </a:prstGeom>
          </p:spPr>
        </p:pic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9BEDBB-15B5-E64E-3EBE-19A11E745FDB}"/>
              </a:ext>
            </a:extLst>
          </p:cNvPr>
          <p:cNvSpPr txBox="1"/>
          <p:nvPr/>
        </p:nvSpPr>
        <p:spPr>
          <a:xfrm>
            <a:off x="1462061" y="1192301"/>
            <a:ext cx="1083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0FA59E-85DD-3175-A618-EF237125E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94" y="1721292"/>
            <a:ext cx="1011204" cy="61310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881FFD-637E-DF17-F58A-2379131EF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94" y="5166938"/>
            <a:ext cx="1011204" cy="6131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473AB3-721F-59AE-AA92-8D956D244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890" y="3201939"/>
            <a:ext cx="1011204" cy="6131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81E8843-9A13-77D5-27B4-3ED1B8138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44" y="3151987"/>
            <a:ext cx="1011204" cy="6131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627B6D-9C63-D539-F287-F26197DD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86" y="1414741"/>
            <a:ext cx="1011204" cy="61310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7F69BA7-EEE5-D452-5BBE-5E0352A49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188" y="5473488"/>
            <a:ext cx="1011204" cy="613101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6EEA2BE2-DEC8-8486-C4F4-7AB287A1B404}"/>
              </a:ext>
            </a:extLst>
          </p:cNvPr>
          <p:cNvSpPr txBox="1"/>
          <p:nvPr/>
        </p:nvSpPr>
        <p:spPr>
          <a:xfrm>
            <a:off x="3408266" y="816351"/>
            <a:ext cx="451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rgbClr val="C00000"/>
                </a:solidFill>
                <a:latin typeface="Garamond" panose="02020404030301010803" pitchFamily="18" charset="0"/>
              </a:rPr>
              <a:t>Standard </a:t>
            </a:r>
            <a:r>
              <a:rPr lang="es-CL" sz="2800" dirty="0" err="1">
                <a:solidFill>
                  <a:srgbClr val="C00000"/>
                </a:solidFill>
                <a:latin typeface="Garamond" panose="02020404030301010803" pitchFamily="18" charset="0"/>
              </a:rPr>
              <a:t>Assignment</a:t>
            </a:r>
            <a:r>
              <a:rPr lang="es-CL" sz="2800" dirty="0">
                <a:solidFill>
                  <a:srgbClr val="C00000"/>
                </a:solidFill>
                <a:latin typeface="Garamond" panose="02020404030301010803" pitchFamily="18" charset="0"/>
              </a:rPr>
              <a:t> </a:t>
            </a:r>
            <a:r>
              <a:rPr lang="es-CL" sz="2800" dirty="0" err="1">
                <a:solidFill>
                  <a:srgbClr val="C00000"/>
                </a:solidFill>
                <a:latin typeface="Garamond" panose="02020404030301010803" pitchFamily="18" charset="0"/>
              </a:rPr>
              <a:t>Problem</a:t>
            </a:r>
            <a:endParaRPr lang="es-CL" sz="28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13EC91E-67FE-D0B3-CBC9-8F09A16B19FE}"/>
              </a:ext>
            </a:extLst>
          </p:cNvPr>
          <p:cNvCxnSpPr>
            <a:cxnSpLocks/>
          </p:cNvCxnSpPr>
          <p:nvPr/>
        </p:nvCxnSpPr>
        <p:spPr>
          <a:xfrm flipH="1">
            <a:off x="3221982" y="2303742"/>
            <a:ext cx="638992" cy="547514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092D566-BF15-3241-F266-27577C0824FD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6827931" y="1925740"/>
            <a:ext cx="948555" cy="607389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2506585-7722-F920-917C-44CE436D5767}"/>
              </a:ext>
            </a:extLst>
          </p:cNvPr>
          <p:cNvCxnSpPr>
            <a:cxnSpLocks/>
          </p:cNvCxnSpPr>
          <p:nvPr/>
        </p:nvCxnSpPr>
        <p:spPr>
          <a:xfrm flipH="1">
            <a:off x="7116340" y="5655585"/>
            <a:ext cx="1320291" cy="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99F7950-3E28-25EA-8C57-B003C4007746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988492" y="3648839"/>
            <a:ext cx="0" cy="410992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3BEBCF02-BFC8-2739-B312-39D4B7101DB5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531948" y="3458539"/>
            <a:ext cx="1453206" cy="512238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9718276-42B2-9391-7A45-60CDF49286B3}"/>
              </a:ext>
            </a:extLst>
          </p:cNvPr>
          <p:cNvCxnSpPr>
            <a:cxnSpLocks/>
          </p:cNvCxnSpPr>
          <p:nvPr/>
        </p:nvCxnSpPr>
        <p:spPr>
          <a:xfrm flipV="1">
            <a:off x="4015755" y="4309135"/>
            <a:ext cx="1237061" cy="795411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A3526F17-569E-3EDF-426F-3EA74C47A660}"/>
              </a:ext>
            </a:extLst>
          </p:cNvPr>
          <p:cNvSpPr txBox="1"/>
          <p:nvPr/>
        </p:nvSpPr>
        <p:spPr>
          <a:xfrm>
            <a:off x="1052623" y="290659"/>
            <a:ext cx="97819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latin typeface="Garamond" panose="02020404030301010803" pitchFamily="18" charset="0"/>
              </a:rPr>
              <a:t>Dynamic Two-Stage Pickup-and-</a:t>
            </a:r>
            <a:r>
              <a:rPr lang="es-CL" sz="2400" b="1" dirty="0" err="1">
                <a:latin typeface="Garamond" panose="02020404030301010803" pitchFamily="18" charset="0"/>
              </a:rPr>
              <a:t>Delivery</a:t>
            </a:r>
            <a:r>
              <a:rPr lang="es-CL" sz="2400" b="1" dirty="0">
                <a:latin typeface="Garamond" panose="02020404030301010803" pitchFamily="18" charset="0"/>
              </a:rPr>
              <a:t> </a:t>
            </a:r>
            <a:r>
              <a:rPr lang="es-CL" sz="2400" b="1" dirty="0" err="1">
                <a:latin typeface="Garamond" panose="02020404030301010803" pitchFamily="18" charset="0"/>
              </a:rPr>
              <a:t>Assignment</a:t>
            </a:r>
            <a:r>
              <a:rPr lang="es-CL" sz="2400" dirty="0">
                <a:latin typeface="Garamond" panose="02020404030301010803" pitchFamily="18" charset="0"/>
              </a:rPr>
              <a:t>. </a:t>
            </a:r>
            <a:r>
              <a:rPr lang="es-CL" dirty="0">
                <a:latin typeface="Garamond" panose="02020404030301010803" pitchFamily="18" charset="0"/>
              </a:rPr>
              <a:t>Rodrigo A. Garrido (2027)</a:t>
            </a:r>
          </a:p>
          <a:p>
            <a:endParaRPr lang="es-CL" sz="2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1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FD54166-29EE-9095-CEF2-860F44AFEBF4}"/>
              </a:ext>
            </a:extLst>
          </p:cNvPr>
          <p:cNvGrpSpPr/>
          <p:nvPr/>
        </p:nvGrpSpPr>
        <p:grpSpPr>
          <a:xfrm>
            <a:off x="2819400" y="914400"/>
            <a:ext cx="7023100" cy="5168900"/>
            <a:chOff x="1295400" y="914400"/>
            <a:chExt cx="7023100" cy="516890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1F3E538-A441-6716-393C-9023E0D204F7}"/>
                </a:ext>
              </a:extLst>
            </p:cNvPr>
            <p:cNvCxnSpPr/>
            <p:nvPr/>
          </p:nvCxnSpPr>
          <p:spPr>
            <a:xfrm>
              <a:off x="1295400" y="914400"/>
              <a:ext cx="0" cy="51689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15CFB74-01F3-1CF0-7017-5A453B78AADB}"/>
                </a:ext>
              </a:extLst>
            </p:cNvPr>
            <p:cNvCxnSpPr/>
            <p:nvPr/>
          </p:nvCxnSpPr>
          <p:spPr>
            <a:xfrm>
              <a:off x="3136900" y="914400"/>
              <a:ext cx="0" cy="51689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269092B5-3761-29F1-95A6-BD57A6891F63}"/>
                </a:ext>
              </a:extLst>
            </p:cNvPr>
            <p:cNvCxnSpPr/>
            <p:nvPr/>
          </p:nvCxnSpPr>
          <p:spPr>
            <a:xfrm>
              <a:off x="4889500" y="914400"/>
              <a:ext cx="0" cy="51689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D0181893-89B3-4920-CEB9-B4EBA67AA992}"/>
                </a:ext>
              </a:extLst>
            </p:cNvPr>
            <p:cNvCxnSpPr/>
            <p:nvPr/>
          </p:nvCxnSpPr>
          <p:spPr>
            <a:xfrm>
              <a:off x="6781800" y="914400"/>
              <a:ext cx="0" cy="51689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A8C5AA0-BFB1-50BA-8696-5F113460B0B2}"/>
                </a:ext>
              </a:extLst>
            </p:cNvPr>
            <p:cNvCxnSpPr/>
            <p:nvPr/>
          </p:nvCxnSpPr>
          <p:spPr>
            <a:xfrm>
              <a:off x="8318500" y="914400"/>
              <a:ext cx="0" cy="516890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4F4C988-5530-457D-9127-E090A85946D9}"/>
              </a:ext>
            </a:extLst>
          </p:cNvPr>
          <p:cNvSpPr txBox="1"/>
          <p:nvPr/>
        </p:nvSpPr>
        <p:spPr>
          <a:xfrm>
            <a:off x="3187700" y="405369"/>
            <a:ext cx="93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2</a:t>
            </a:r>
            <a:endParaRPr lang="es-CL" sz="2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4B982A-882C-816C-1BAA-396F36A446D7}"/>
              </a:ext>
            </a:extLst>
          </p:cNvPr>
          <p:cNvSpPr txBox="1"/>
          <p:nvPr/>
        </p:nvSpPr>
        <p:spPr>
          <a:xfrm>
            <a:off x="5054600" y="405368"/>
            <a:ext cx="93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3</a:t>
            </a:r>
            <a:endParaRPr lang="es-CL" sz="2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9C2773-7F9E-8095-5D43-CF0B9F746F2C}"/>
              </a:ext>
            </a:extLst>
          </p:cNvPr>
          <p:cNvSpPr txBox="1"/>
          <p:nvPr/>
        </p:nvSpPr>
        <p:spPr>
          <a:xfrm>
            <a:off x="8775700" y="405367"/>
            <a:ext cx="93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T</a:t>
            </a:r>
            <a:endParaRPr lang="es-CL" sz="2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F135CE2-65BE-6FB7-B850-DE654A8DC271}"/>
              </a:ext>
            </a:extLst>
          </p:cNvPr>
          <p:cNvSpPr txBox="1"/>
          <p:nvPr/>
        </p:nvSpPr>
        <p:spPr>
          <a:xfrm>
            <a:off x="6889757" y="452736"/>
            <a:ext cx="93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…</a:t>
            </a:r>
            <a:endParaRPr lang="es-CL" sz="24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46A9891-88D0-F1DC-05ED-05DD5E37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50" y="1419546"/>
            <a:ext cx="503298" cy="78149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6615C90-58CB-9D57-03A5-7099CCBE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3064130"/>
            <a:ext cx="609600" cy="72974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1D41E1B-5083-2408-53F4-DA80741B4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764" y="4202922"/>
            <a:ext cx="503298" cy="781492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5BA5B74-990F-0C15-6C86-73D27E30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0" y="1950160"/>
            <a:ext cx="609600" cy="729740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8ED78A67-83D5-1939-3728-9DFEB2FB014D}"/>
              </a:ext>
            </a:extLst>
          </p:cNvPr>
          <p:cNvGrpSpPr/>
          <p:nvPr/>
        </p:nvGrpSpPr>
        <p:grpSpPr>
          <a:xfrm>
            <a:off x="2998615" y="2227874"/>
            <a:ext cx="6237806" cy="3210581"/>
            <a:chOff x="1474615" y="2227873"/>
            <a:chExt cx="6237806" cy="3210581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CA98873B-289A-AFA9-F2F4-79A2A09FC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1868" y="3793870"/>
              <a:ext cx="587722" cy="356341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8CCE1981-FB7A-09E9-01BA-885B0B7FB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4615" y="2227873"/>
              <a:ext cx="587722" cy="356341"/>
            </a:xfrm>
            <a:prstGeom prst="rect">
              <a:avLst/>
            </a:prstGeom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50588D0E-E3FF-6344-17E9-C5914695D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8564" y="5082113"/>
              <a:ext cx="587722" cy="356341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055606B9-B138-B4CB-68C3-7A2EA6E5D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24699" y="2707789"/>
              <a:ext cx="587722" cy="356341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1642DB53-CC96-335B-0DC3-204451BCA175}"/>
              </a:ext>
            </a:extLst>
          </p:cNvPr>
          <p:cNvGrpSpPr/>
          <p:nvPr/>
        </p:nvGrpSpPr>
        <p:grpSpPr>
          <a:xfrm>
            <a:off x="3840559" y="867032"/>
            <a:ext cx="5871377" cy="4329657"/>
            <a:chOff x="2316327" y="889672"/>
            <a:chExt cx="5871377" cy="4329657"/>
          </a:xfrm>
        </p:grpSpPr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976429B0-3307-BBB5-D13A-9D09C3C3C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8765" y="1866251"/>
              <a:ext cx="479996" cy="669574"/>
            </a:xfrm>
            <a:prstGeom prst="rect">
              <a:avLst/>
            </a:prstGeom>
          </p:spPr>
        </p:pic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DD9800D8-ED5B-B7EB-E26C-1FEF10F15825}"/>
                </a:ext>
              </a:extLst>
            </p:cNvPr>
            <p:cNvGrpSpPr/>
            <p:nvPr/>
          </p:nvGrpSpPr>
          <p:grpSpPr>
            <a:xfrm>
              <a:off x="2316327" y="889672"/>
              <a:ext cx="5871377" cy="4329657"/>
              <a:chOff x="2316327" y="889672"/>
              <a:chExt cx="5871377" cy="4329657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C2210FB7-64A1-7B28-DD02-78C1121A87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3383" y="889672"/>
                <a:ext cx="537991" cy="781829"/>
              </a:xfrm>
              <a:prstGeom prst="rect">
                <a:avLst/>
              </a:prstGeom>
            </p:spPr>
          </p:pic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505E02C3-2C13-9DEB-B7E8-5EA36E0129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6327" y="2909751"/>
                <a:ext cx="669572" cy="66040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4822FCD9-BFE3-B7DF-F8F8-B3779A53B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1377" y="1280586"/>
                <a:ext cx="479996" cy="669574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96037CA3-574E-E19E-283F-BC1C63D56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09811" y="4440096"/>
                <a:ext cx="582981" cy="642017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ADBF0F80-A8EE-BB34-C5C9-7970178226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74100" y="1011101"/>
                <a:ext cx="669572" cy="660400"/>
              </a:xfrm>
              <a:prstGeom prst="rect">
                <a:avLst/>
              </a:prstGeom>
            </p:spPr>
          </p:pic>
          <p:pic>
            <p:nvPicPr>
              <p:cNvPr id="44" name="Imagen 43">
                <a:extLst>
                  <a:ext uri="{FF2B5EF4-FFF2-40B4-BE49-F238E27FC236}">
                    <a16:creationId xmlns:a16="http://schemas.microsoft.com/office/drawing/2014/main" id="{704EC20F-82A7-438A-56D5-E98ED9B93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4723" y="1035498"/>
                <a:ext cx="582981" cy="642017"/>
              </a:xfrm>
              <a:prstGeom prst="rect">
                <a:avLst/>
              </a:prstGeom>
            </p:spPr>
          </p:pic>
          <p:pic>
            <p:nvPicPr>
              <p:cNvPr id="45" name="Imagen 44">
                <a:extLst>
                  <a:ext uri="{FF2B5EF4-FFF2-40B4-BE49-F238E27FC236}">
                    <a16:creationId xmlns:a16="http://schemas.microsoft.com/office/drawing/2014/main" id="{DD8394E8-0A84-0410-5503-A6FB666F8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49713" y="4437500"/>
                <a:ext cx="537991" cy="781829"/>
              </a:xfrm>
              <a:prstGeom prst="rect">
                <a:avLst/>
              </a:prstGeom>
            </p:spPr>
          </p:pic>
        </p:grp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B9E3A10-1F55-5CB2-DE48-0F828A2EC189}"/>
              </a:ext>
            </a:extLst>
          </p:cNvPr>
          <p:cNvSpPr txBox="1"/>
          <p:nvPr/>
        </p:nvSpPr>
        <p:spPr>
          <a:xfrm>
            <a:off x="1800227" y="470065"/>
            <a:ext cx="939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0432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 = 1</a:t>
            </a:r>
            <a:endParaRPr lang="es-CL" sz="2400" dirty="0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05FDD963-5728-7B94-5C92-879C16002D06}"/>
              </a:ext>
            </a:extLst>
          </p:cNvPr>
          <p:cNvGrpSpPr/>
          <p:nvPr/>
        </p:nvGrpSpPr>
        <p:grpSpPr>
          <a:xfrm>
            <a:off x="3522439" y="1654874"/>
            <a:ext cx="5898006" cy="3481294"/>
            <a:chOff x="1998439" y="1654874"/>
            <a:chExt cx="5898006" cy="3481294"/>
          </a:xfrm>
        </p:grpSpPr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3E4552AF-2DB9-AA4B-DFEB-FCEC85BD3064}"/>
                </a:ext>
              </a:extLst>
            </p:cNvPr>
            <p:cNvCxnSpPr>
              <a:cxnSpLocks/>
              <a:endCxn id="34" idx="2"/>
            </p:cNvCxnSpPr>
            <p:nvPr/>
          </p:nvCxnSpPr>
          <p:spPr>
            <a:xfrm flipV="1">
              <a:off x="2011089" y="3547510"/>
              <a:ext cx="640255" cy="1588658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a16:creationId xmlns:a16="http://schemas.microsoft.com/office/drawing/2014/main" id="{3FA1786E-1A3B-BBDD-D5F0-7AC31EE7E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8439" y="1756065"/>
              <a:ext cx="636239" cy="566779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789A922F-FCA9-F8EB-3990-7EFC227FA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165" y="2730575"/>
              <a:ext cx="561914" cy="1165980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3EE79AED-1488-2AC9-E993-33B6257AAE2D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flipV="1">
              <a:off x="7630353" y="1654874"/>
              <a:ext cx="266092" cy="1148874"/>
            </a:xfrm>
            <a:prstGeom prst="straightConnector1">
              <a:avLst/>
            </a:prstGeom>
            <a:ln w="3492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75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947D233-96DC-FC50-7634-04BEA0293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146" y="415555"/>
            <a:ext cx="8425059" cy="227326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BE16A77-173E-0B83-F1E2-ABCAD181B1EC}"/>
              </a:ext>
            </a:extLst>
          </p:cNvPr>
          <p:cNvSpPr txBox="1"/>
          <p:nvPr/>
        </p:nvSpPr>
        <p:spPr>
          <a:xfrm>
            <a:off x="1590569" y="3013501"/>
            <a:ext cx="8870212" cy="83099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s-CL" sz="2400" dirty="0">
                <a:latin typeface="Garamond" panose="02020404030301010803" pitchFamily="18" charset="0"/>
              </a:rPr>
              <a:t>How do anticipative </a:t>
            </a:r>
            <a:r>
              <a:rPr lang="es-CL" sz="2400" dirty="0" err="1">
                <a:latin typeface="Garamond" panose="02020404030301010803" pitchFamily="18" charset="0"/>
              </a:rPr>
              <a:t>coordination</a:t>
            </a:r>
            <a:r>
              <a:rPr lang="es-CL" sz="2400" dirty="0">
                <a:latin typeface="Garamond" panose="02020404030301010803" pitchFamily="18" charset="0"/>
              </a:rPr>
              <a:t>, </a:t>
            </a:r>
            <a:r>
              <a:rPr lang="es-CL" sz="2400" dirty="0" err="1">
                <a:latin typeface="Garamond" panose="02020404030301010803" pitchFamily="18" charset="0"/>
              </a:rPr>
              <a:t>intertemporal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complementarities</a:t>
            </a:r>
            <a:r>
              <a:rPr lang="es-CL" sz="2400" dirty="0">
                <a:latin typeface="Garamond" panose="02020404030301010803" pitchFamily="18" charset="0"/>
              </a:rPr>
              <a:t>, and </a:t>
            </a:r>
            <a:r>
              <a:rPr lang="es-CL" sz="2400" dirty="0" err="1">
                <a:latin typeface="Garamond" panose="02020404030301010803" pitchFamily="18" charset="0"/>
              </a:rPr>
              <a:t>fleet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availability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affect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the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value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of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dynamic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freight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assignment</a:t>
            </a:r>
            <a:r>
              <a:rPr lang="es-CL" sz="2400" dirty="0">
                <a:latin typeface="Garamond" panose="020204040303010108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206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8090E-2A1C-0B9E-B0E2-D1182A16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E3F86-811B-7CD8-4E05-BA82AAC2BC6B}"/>
              </a:ext>
            </a:extLst>
          </p:cNvPr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D56A6-55A1-AE09-4494-F7F1BD06F555}"/>
              </a:ext>
            </a:extLst>
          </p:cNvPr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Dynamic freight | The scientific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323AD-76AD-1B7B-EA5C-E649E9D88B4F}"/>
              </a:ext>
            </a:extLst>
          </p:cNvPr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t>Anticipative Coordination and Fleet Interaction in Dynamic Two-Stage Pickup-and-Delivery Assignment (2026)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1B17A-3AD5-7ACB-24D4-736395CEF19C}"/>
              </a:ext>
            </a:extLst>
          </p:cNvPr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6D079-B41C-9258-CF9B-A528C0810024}"/>
              </a:ext>
            </a:extLst>
          </p:cNvPr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(2026), working manuscript, October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D28F9-09CF-204F-EC65-BB6D839EAEC1}"/>
              </a:ext>
            </a:extLst>
          </p:cNvPr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12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F785B74-828D-0730-56D0-47289CD46779}"/>
              </a:ext>
            </a:extLst>
          </p:cNvPr>
          <p:cNvGrpSpPr/>
          <p:nvPr/>
        </p:nvGrpSpPr>
        <p:grpSpPr>
          <a:xfrm>
            <a:off x="2081430" y="1682400"/>
            <a:ext cx="7253956" cy="2805443"/>
            <a:chOff x="6089904" y="1648802"/>
            <a:chExt cx="5239511" cy="2805443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06BAAC8C-66A9-9B28-9F58-E224943DFB6E}"/>
                </a:ext>
              </a:extLst>
            </p:cNvPr>
            <p:cNvGrpSpPr/>
            <p:nvPr/>
          </p:nvGrpSpPr>
          <p:grpSpPr>
            <a:xfrm>
              <a:off x="6089904" y="1648802"/>
              <a:ext cx="4956048" cy="393192"/>
              <a:chOff x="6263640" y="1554480"/>
              <a:chExt cx="4956048" cy="39319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96D0EE0-6268-CB68-238D-C4F3A46507C3}"/>
                  </a:ext>
                </a:extLst>
              </p:cNvPr>
              <p:cNvSpPr/>
              <p:nvPr/>
            </p:nvSpPr>
            <p:spPr>
              <a:xfrm>
                <a:off x="6263640" y="1554480"/>
                <a:ext cx="4956048" cy="393192"/>
              </a:xfrm>
              <a:prstGeom prst="rect">
                <a:avLst/>
              </a:prstGeom>
              <a:solidFill>
                <a:srgbClr val="1B628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AF402D-B347-C936-EC74-473C4F76485B}"/>
                  </a:ext>
                </a:extLst>
              </p:cNvPr>
              <p:cNvSpPr txBox="1"/>
              <p:nvPr/>
            </p:nvSpPr>
            <p:spPr>
              <a:xfrm>
                <a:off x="6409943" y="1641407"/>
                <a:ext cx="4663440" cy="274320"/>
              </a:xfrm>
              <a:prstGeom prst="rect">
                <a:avLst/>
              </a:prstGeom>
              <a:noFill/>
            </p:spPr>
            <p:txBody>
              <a:bodyPr wrap="square" lIns="18288" tIns="18288">
                <a:spAutoFit/>
              </a:bodyPr>
              <a:lstStyle/>
              <a:p>
                <a:pPr>
                  <a:spcAft>
                    <a:spcPts val="800"/>
                  </a:spcAft>
                  <a:defRPr sz="1300" b="1">
                    <a:solidFill>
                      <a:srgbClr val="FFFFFF"/>
                    </a:solidFill>
                    <a:latin typeface="Aptos"/>
                  </a:defRPr>
                </a:pPr>
                <a:r>
                  <a:rPr dirty="0"/>
                  <a:t>METHODOLOGY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1769B9-7478-DBCD-699D-38CFDC7BCF8C}"/>
                </a:ext>
              </a:extLst>
            </p:cNvPr>
            <p:cNvSpPr txBox="1"/>
            <p:nvPr/>
          </p:nvSpPr>
          <p:spPr>
            <a:xfrm>
              <a:off x="6153912" y="2132584"/>
              <a:ext cx="5175503" cy="2321661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b="1" dirty="0" err="1">
                  <a:latin typeface="Garamond" panose="02020404030301010803" pitchFamily="18" charset="0"/>
                </a:rPr>
                <a:t>Problem</a:t>
              </a:r>
              <a:r>
                <a:rPr lang="es-CL" dirty="0">
                  <a:latin typeface="Garamond" panose="02020404030301010803" pitchFamily="18" charset="0"/>
                </a:rPr>
                <a:t>: A </a:t>
              </a:r>
              <a:r>
                <a:rPr lang="es-CL" dirty="0" err="1">
                  <a:latin typeface="Garamond" panose="02020404030301010803" pitchFamily="18" charset="0"/>
                </a:rPr>
                <a:t>two-stage</a:t>
              </a:r>
              <a:r>
                <a:rPr lang="es-CL" dirty="0">
                  <a:latin typeface="Garamond" panose="02020404030301010803" pitchFamily="18" charset="0"/>
                </a:rPr>
                <a:t> pickup-and-</a:t>
              </a:r>
              <a:r>
                <a:rPr lang="es-CL" dirty="0" err="1">
                  <a:latin typeface="Garamond" panose="02020404030301010803" pitchFamily="18" charset="0"/>
                </a:rPr>
                <a:t>delivery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assignment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problem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where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current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decisions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change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vehicle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locations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availability</a:t>
              </a:r>
              <a:r>
                <a:rPr lang="es-CL" dirty="0">
                  <a:latin typeface="Garamond" panose="02020404030301010803" pitchFamily="18" charset="0"/>
                </a:rPr>
                <a:t>, and </a:t>
              </a:r>
              <a:r>
                <a:rPr lang="es-CL" dirty="0" err="1">
                  <a:latin typeface="Garamond" panose="02020404030301010803" pitchFamily="18" charset="0"/>
                </a:rPr>
                <a:t>feasibility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of</a:t>
              </a:r>
              <a:r>
                <a:rPr lang="es-CL" dirty="0">
                  <a:latin typeface="Garamond" panose="02020404030301010803" pitchFamily="18" charset="0"/>
                </a:rPr>
                <a:t> future </a:t>
              </a:r>
              <a:r>
                <a:rPr lang="es-CL" dirty="0" err="1">
                  <a:latin typeface="Garamond" panose="02020404030301010803" pitchFamily="18" charset="0"/>
                </a:rPr>
                <a:t>deliveries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</a:p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b="1" dirty="0" err="1">
                  <a:latin typeface="Garamond" panose="02020404030301010803" pitchFamily="18" charset="0"/>
                </a:rPr>
                <a:t>Mathematical</a:t>
              </a:r>
              <a:r>
                <a:rPr lang="es-CL" b="1" dirty="0">
                  <a:latin typeface="Garamond" panose="02020404030301010803" pitchFamily="18" charset="0"/>
                </a:rPr>
                <a:t> </a:t>
              </a:r>
              <a:r>
                <a:rPr lang="es-CL" b="1" dirty="0" err="1">
                  <a:latin typeface="Garamond" panose="02020404030301010803" pitchFamily="18" charset="0"/>
                </a:rPr>
                <a:t>modeling</a:t>
              </a:r>
              <a:r>
                <a:rPr lang="es-CL" dirty="0">
                  <a:latin typeface="Garamond" panose="02020404030301010803" pitchFamily="18" charset="0"/>
                </a:rPr>
                <a:t>: </a:t>
              </a:r>
              <a:r>
                <a:rPr lang="es-CL" dirty="0" err="1">
                  <a:latin typeface="Garamond" panose="02020404030301010803" pitchFamily="18" charset="0"/>
                </a:rPr>
                <a:t>Feasible</a:t>
              </a:r>
              <a:r>
                <a:rPr lang="es-CL" dirty="0">
                  <a:latin typeface="Garamond" panose="02020404030301010803" pitchFamily="18" charset="0"/>
                </a:rPr>
                <a:t> single-</a:t>
              </a:r>
              <a:r>
                <a:rPr lang="es-CL" dirty="0" err="1">
                  <a:latin typeface="Garamond" panose="02020404030301010803" pitchFamily="18" charset="0"/>
                </a:rPr>
                <a:t>request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services</a:t>
              </a:r>
              <a:r>
                <a:rPr lang="es-CL" dirty="0">
                  <a:latin typeface="Garamond" panose="02020404030301010803" pitchFamily="18" charset="0"/>
                </a:rPr>
                <a:t> and </a:t>
              </a:r>
              <a:r>
                <a:rPr lang="es-CL" dirty="0" err="1">
                  <a:latin typeface="Garamond" panose="02020404030301010803" pitchFamily="18" charset="0"/>
                </a:rPr>
                <a:t>two-request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chains</a:t>
              </a:r>
              <a:r>
                <a:rPr lang="es-CL" dirty="0">
                  <a:latin typeface="Garamond" panose="02020404030301010803" pitchFamily="18" charset="0"/>
                </a:rPr>
                <a:t> are </a:t>
              </a:r>
              <a:r>
                <a:rPr lang="es-CL" dirty="0" err="1">
                  <a:latin typeface="Garamond" panose="02020404030301010803" pitchFamily="18" charset="0"/>
                </a:rPr>
                <a:t>represented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through</a:t>
              </a:r>
              <a:r>
                <a:rPr lang="es-CL" dirty="0">
                  <a:latin typeface="Garamond" panose="02020404030301010803" pitchFamily="18" charset="0"/>
                </a:rPr>
                <a:t> a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conflict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graph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formulated</a:t>
              </a:r>
              <a:r>
                <a:rPr lang="es-CL" dirty="0">
                  <a:latin typeface="Garamond" panose="02020404030301010803" pitchFamily="18" charset="0"/>
                </a:rPr>
                <a:t> as a </a:t>
              </a:r>
              <a:r>
                <a:rPr lang="es-CL" dirty="0" err="1">
                  <a:latin typeface="Garamond" panose="02020404030301010803" pitchFamily="18" charset="0"/>
                </a:rPr>
                <a:t>cardinality-constrained</a:t>
              </a:r>
              <a:r>
                <a:rPr lang="es-CL" dirty="0">
                  <a:latin typeface="Garamond" panose="02020404030301010803" pitchFamily="18" charset="0"/>
                </a:rPr>
                <a:t> Maximum-Weight </a:t>
              </a:r>
              <a:r>
                <a:rPr lang="es-CL" dirty="0" err="1">
                  <a:latin typeface="Garamond" panose="02020404030301010803" pitchFamily="18" charset="0"/>
                </a:rPr>
                <a:t>Independent</a:t>
              </a:r>
              <a:r>
                <a:rPr lang="es-CL" dirty="0">
                  <a:latin typeface="Garamond" panose="02020404030301010803" pitchFamily="18" charset="0"/>
                </a:rPr>
                <a:t> Set </a:t>
              </a:r>
              <a:r>
                <a:rPr lang="es-CL" dirty="0" err="1">
                  <a:latin typeface="Garamond" panose="02020404030301010803" pitchFamily="18" charset="0"/>
                </a:rPr>
                <a:t>problem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with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equivalent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QUBO/Ising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representation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766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Freight | Model and combinatorial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rPr dirty="0"/>
              <a:t>Service alternatives: initial singleton, future singleton, or feasible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(2026), Sections 2–4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3500BF0-B9EF-A3E2-3DA2-786ED3D9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348" y="1343585"/>
            <a:ext cx="7772400" cy="34184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6A38D-67F1-E773-8EB6-AB031214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77A2E7-216D-4997-DEC1-B986317AD3D5}"/>
              </a:ext>
            </a:extLst>
          </p:cNvPr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6E61-BB5F-1B25-AC35-EA3459D20E92}"/>
              </a:ext>
            </a:extLst>
          </p:cNvPr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Freight | Model and combinatorial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4D037-7683-082B-8818-345AD0AC4175}"/>
              </a:ext>
            </a:extLst>
          </p:cNvPr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rPr dirty="0"/>
              <a:t>Service alternatives: initial singleton, future singleton, or feasible chain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54FAE-50E9-B5AF-BDF7-EA33A8C604DE}"/>
              </a:ext>
            </a:extLst>
          </p:cNvPr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5BE56-22AA-4AA5-24C7-C43E8286E8DF}"/>
              </a:ext>
            </a:extLst>
          </p:cNvPr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(2026), Sections 2–4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AF410-0015-E704-036E-DC4897A78C07}"/>
              </a:ext>
            </a:extLst>
          </p:cNvPr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795CF9A-8C92-FD88-54F1-F0DAB91F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97" y="1531663"/>
            <a:ext cx="2661741" cy="25518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0DEAF73-AA1E-6EB6-D41E-B4E2BE1E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84" y="2401221"/>
            <a:ext cx="1761756" cy="31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87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5852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t>Freight | How much does anticipation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t>Li–Lim LC101 dynamic construction · 30 independently generated realizations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6492240"/>
            <a:ext cx="10149840" cy="17373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5D676E"/>
                </a:solidFill>
                <a:latin typeface="Aptos"/>
              </a:defRPr>
            </a:pPr>
            <a:r>
              <a:t>Garrido (2026), Results §§6.1–6.4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508760"/>
            <a:ext cx="6574961" cy="2669043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102B64C6-5F48-7F32-8934-B631881A1347}"/>
              </a:ext>
            </a:extLst>
          </p:cNvPr>
          <p:cNvGrpSpPr/>
          <p:nvPr/>
        </p:nvGrpSpPr>
        <p:grpSpPr>
          <a:xfrm>
            <a:off x="534924" y="4718726"/>
            <a:ext cx="10620756" cy="1011978"/>
            <a:chOff x="475488" y="5129784"/>
            <a:chExt cx="10620756" cy="1011978"/>
          </a:xfrm>
        </p:grpSpPr>
        <p:sp>
          <p:nvSpPr>
            <p:cNvPr id="12" name="Rounded Rectangle 12">
              <a:extLst>
                <a:ext uri="{FF2B5EF4-FFF2-40B4-BE49-F238E27FC236}">
                  <a16:creationId xmlns:a16="http://schemas.microsoft.com/office/drawing/2014/main" id="{5A51745B-5CC1-EDC5-8787-69DBE222D234}"/>
                </a:ext>
              </a:extLst>
            </p:cNvPr>
            <p:cNvSpPr/>
            <p:nvPr/>
          </p:nvSpPr>
          <p:spPr>
            <a:xfrm>
              <a:off x="475488" y="5129784"/>
              <a:ext cx="10469880" cy="1011978"/>
            </a:xfrm>
            <a:prstGeom prst="roundRect">
              <a:avLst/>
            </a:prstGeom>
            <a:solidFill>
              <a:srgbClr val="E7F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64060E0-EEF6-4A13-2CAC-8F6A8ECC029D}"/>
                </a:ext>
              </a:extLst>
            </p:cNvPr>
            <p:cNvSpPr txBox="1"/>
            <p:nvPr/>
          </p:nvSpPr>
          <p:spPr>
            <a:xfrm>
              <a:off x="1037844" y="5234467"/>
              <a:ext cx="10058400" cy="84946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1700" b="0">
                  <a:solidFill>
                    <a:srgbClr val="171A1D"/>
                  </a:solidFill>
                  <a:latin typeface="Aptos"/>
                </a:defRPr>
              </a:pPr>
              <a:r>
                <a:rPr dirty="0">
                  <a:latin typeface="Garamond" panose="02020404030301010803" pitchFamily="18" charset="0"/>
                </a:rPr>
                <a:t>TAKEAWAY  </a:t>
              </a:r>
              <a:r>
                <a:rPr lang="es-CL" dirty="0">
                  <a:latin typeface="Garamond" panose="02020404030301010803" pitchFamily="18" charset="0"/>
                </a:rPr>
                <a:t>Anticipative </a:t>
              </a:r>
              <a:r>
                <a:rPr lang="es-CL" dirty="0" err="1">
                  <a:latin typeface="Garamond" panose="02020404030301010803" pitchFamily="18" charset="0"/>
                </a:rPr>
                <a:t>coordination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creates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value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even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with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abundant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vehicles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because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individually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unprofitable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requests</a:t>
              </a:r>
              <a:r>
                <a:rPr lang="es-CL" dirty="0">
                  <a:latin typeface="Garamond" panose="02020404030301010803" pitchFamily="18" charset="0"/>
                </a:rPr>
                <a:t> can </a:t>
              </a:r>
              <a:r>
                <a:rPr lang="es-CL" dirty="0" err="1">
                  <a:latin typeface="Garamond" panose="02020404030301010803" pitchFamily="18" charset="0"/>
                </a:rPr>
                <a:t>enable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profitable</a:t>
              </a:r>
              <a:r>
                <a:rPr lang="es-CL" dirty="0">
                  <a:latin typeface="Garamond" panose="02020404030301010803" pitchFamily="18" charset="0"/>
                </a:rPr>
                <a:t> future </a:t>
              </a:r>
              <a:r>
                <a:rPr lang="es-CL" dirty="0" err="1">
                  <a:latin typeface="Garamond" panose="02020404030301010803" pitchFamily="18" charset="0"/>
                </a:rPr>
                <a:t>service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chains</a:t>
              </a:r>
              <a:r>
                <a:rPr lang="es-CL" dirty="0">
                  <a:latin typeface="Garamond" panose="02020404030301010803" pitchFamily="18" charset="0"/>
                </a:rPr>
                <a:t>. Fleet </a:t>
              </a:r>
              <a:r>
                <a:rPr lang="es-CL" dirty="0" err="1">
                  <a:latin typeface="Garamond" panose="02020404030301010803" pitchFamily="18" charset="0"/>
                </a:rPr>
                <a:t>limitations</a:t>
              </a:r>
              <a:r>
                <a:rPr lang="es-CL" dirty="0">
                  <a:latin typeface="Garamond" panose="02020404030301010803" pitchFamily="18" charset="0"/>
                </a:rPr>
                <a:t> can </a:t>
              </a:r>
              <a:r>
                <a:rPr lang="es-CL" dirty="0" err="1">
                  <a:latin typeface="Garamond" panose="02020404030301010803" pitchFamily="18" charset="0"/>
                </a:rPr>
                <a:t>further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amplify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the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cost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of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sequential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decisions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  <a:endParaRPr dirty="0">
                <a:latin typeface="Garamond" panose="02020404030301010803" pitchFamily="18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347472"/>
            <a:ext cx="118872" cy="521207"/>
          </a:xfrm>
          <a:prstGeom prst="rect">
            <a:avLst/>
          </a:prstGeom>
          <a:solidFill>
            <a:srgbClr val="00A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310896"/>
            <a:ext cx="10881360" cy="495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1A1D"/>
                </a:solidFill>
                <a:latin typeface="Georgia"/>
              </a:defRPr>
            </a:pPr>
            <a:r>
              <a:rPr lang="en-US" noProof="0" dirty="0"/>
              <a:t>Takeaways for uncertainty in logistics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50976"/>
            <a:ext cx="10607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B6285"/>
                </a:solidFill>
                <a:latin typeface="Aptos"/>
              </a:defRPr>
            </a:pPr>
            <a:r>
              <a:t>What the three research strands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08208" cy="12801"/>
          </a:xfrm>
          <a:prstGeom prst="rect">
            <a:avLst/>
          </a:prstGeom>
          <a:solidFill>
            <a:srgbClr val="D2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37392" y="6492240"/>
            <a:ext cx="320040" cy="1828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D676E"/>
                </a:solidFill>
                <a:latin typeface="Aptos"/>
              </a:defRPr>
            </a:pPr>
            <a:r>
              <a:t>15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19C9D4F-57F2-D653-69CF-B52DE71752FC}"/>
              </a:ext>
            </a:extLst>
          </p:cNvPr>
          <p:cNvGrpSpPr/>
          <p:nvPr/>
        </p:nvGrpSpPr>
        <p:grpSpPr>
          <a:xfrm>
            <a:off x="960120" y="1417319"/>
            <a:ext cx="10104120" cy="680186"/>
            <a:chOff x="960120" y="1417319"/>
            <a:chExt cx="10104120" cy="680186"/>
          </a:xfrm>
        </p:grpSpPr>
        <p:sp>
          <p:nvSpPr>
            <p:cNvPr id="7" name="Rectangle 6"/>
            <p:cNvSpPr/>
            <p:nvPr/>
          </p:nvSpPr>
          <p:spPr>
            <a:xfrm>
              <a:off x="960120" y="1508760"/>
              <a:ext cx="91440" cy="91440"/>
            </a:xfrm>
            <a:prstGeom prst="rect">
              <a:avLst/>
            </a:prstGeom>
            <a:solidFill>
              <a:srgbClr val="D62B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88720" y="1417319"/>
              <a:ext cx="9875520" cy="680186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Uncertainty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has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an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operational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cost</a:t>
              </a:r>
              <a:r>
                <a:rPr lang="es-CL" dirty="0">
                  <a:latin typeface="Garamond" panose="02020404030301010803" pitchFamily="18" charset="0"/>
                </a:rPr>
                <a:t>. In </a:t>
              </a:r>
              <a:r>
                <a:rPr lang="es-CL" dirty="0" err="1">
                  <a:latin typeface="Garamond" panose="02020404030301010803" pitchFamily="18" charset="0"/>
                </a:rPr>
                <a:t>emergency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logistics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higher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service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reliability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requires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increasingly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costly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resource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allocation</a:t>
              </a:r>
              <a:r>
                <a:rPr lang="es-CL" dirty="0">
                  <a:latin typeface="Garamond" panose="02020404030301010803" pitchFamily="18" charset="0"/>
                </a:rPr>
                <a:t> and </a:t>
              </a:r>
              <a:r>
                <a:rPr lang="es-CL" dirty="0" err="1">
                  <a:latin typeface="Garamond" panose="02020404030301010803" pitchFamily="18" charset="0"/>
                </a:rPr>
                <a:t>prepositioning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decisions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15E785F6-DDA6-C116-7A20-72A0121445C0}"/>
              </a:ext>
            </a:extLst>
          </p:cNvPr>
          <p:cNvGrpSpPr/>
          <p:nvPr/>
        </p:nvGrpSpPr>
        <p:grpSpPr>
          <a:xfrm>
            <a:off x="960120" y="2267712"/>
            <a:ext cx="10104120" cy="987963"/>
            <a:chOff x="960120" y="2267712"/>
            <a:chExt cx="10104120" cy="987963"/>
          </a:xfrm>
        </p:grpSpPr>
        <p:sp>
          <p:nvSpPr>
            <p:cNvPr id="9" name="Rectangle 8"/>
            <p:cNvSpPr/>
            <p:nvPr/>
          </p:nvSpPr>
          <p:spPr>
            <a:xfrm>
              <a:off x="960120" y="2359152"/>
              <a:ext cx="91440" cy="91440"/>
            </a:xfrm>
            <a:prstGeom prst="rect">
              <a:avLst/>
            </a:prstGeom>
            <a:solidFill>
              <a:srgbClr val="D62B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8720" y="2267712"/>
              <a:ext cx="9875520" cy="98796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Determinism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does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not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guarantee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predictability</a:t>
              </a:r>
              <a:r>
                <a:rPr lang="es-CL" dirty="0">
                  <a:latin typeface="Garamond" panose="02020404030301010803" pitchFamily="18" charset="0"/>
                </a:rPr>
                <a:t>. Even </a:t>
              </a:r>
              <a:r>
                <a:rPr lang="es-CL" dirty="0" err="1">
                  <a:latin typeface="Garamond" panose="02020404030301010803" pitchFamily="18" charset="0"/>
                </a:rPr>
                <a:t>when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the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governing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dynamics</a:t>
              </a:r>
              <a:r>
                <a:rPr lang="es-CL" dirty="0">
                  <a:latin typeface="Garamond" panose="02020404030301010803" pitchFamily="18" charset="0"/>
                </a:rPr>
                <a:t> are </a:t>
              </a:r>
              <a:r>
                <a:rPr lang="es-CL" dirty="0" err="1">
                  <a:latin typeface="Garamond" panose="02020404030301010803" pitchFamily="18" charset="0"/>
                </a:rPr>
                <a:t>fully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known</a:t>
              </a:r>
              <a:r>
                <a:rPr lang="es-CL" dirty="0">
                  <a:latin typeface="Garamond" panose="02020404030301010803" pitchFamily="18" charset="0"/>
                </a:rPr>
                <a:t>, machine-</a:t>
              </a:r>
              <a:r>
                <a:rPr lang="es-CL" dirty="0" err="1">
                  <a:latin typeface="Garamond" panose="02020404030301010803" pitchFamily="18" charset="0"/>
                </a:rPr>
                <a:t>learning</a:t>
              </a:r>
              <a:r>
                <a:rPr lang="es-CL" dirty="0">
                  <a:latin typeface="Garamond" panose="02020404030301010803" pitchFamily="18" charset="0"/>
                </a:rPr>
                <a:t> performance </a:t>
              </a:r>
              <a:r>
                <a:rPr lang="es-CL" dirty="0" err="1">
                  <a:latin typeface="Garamond" panose="02020404030301010803" pitchFamily="18" charset="0"/>
                </a:rPr>
                <a:t>depends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how</a:t>
              </a:r>
              <a:r>
                <a:rPr lang="es-CL" dirty="0">
                  <a:latin typeface="Garamond" panose="02020404030301010803" pitchFamily="18" charset="0"/>
                </a:rPr>
                <a:t> predictive </a:t>
              </a:r>
              <a:r>
                <a:rPr lang="es-CL" dirty="0" err="1">
                  <a:latin typeface="Garamond" panose="02020404030301010803" pitchFamily="18" charset="0"/>
                </a:rPr>
                <a:t>information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is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organized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propagated</a:t>
              </a:r>
              <a:r>
                <a:rPr lang="es-CL" dirty="0">
                  <a:latin typeface="Garamond" panose="02020404030301010803" pitchFamily="18" charset="0"/>
                </a:rPr>
                <a:t>, and </a:t>
              </a:r>
              <a:r>
                <a:rPr lang="es-CL" dirty="0" err="1">
                  <a:latin typeface="Garamond" panose="02020404030301010803" pitchFamily="18" charset="0"/>
                </a:rPr>
                <a:t>accessed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B5F28A5-C795-DD9D-1AD9-FF68A32B06F8}"/>
              </a:ext>
            </a:extLst>
          </p:cNvPr>
          <p:cNvGrpSpPr/>
          <p:nvPr/>
        </p:nvGrpSpPr>
        <p:grpSpPr>
          <a:xfrm>
            <a:off x="929640" y="3535160"/>
            <a:ext cx="10104120" cy="987963"/>
            <a:chOff x="929640" y="3535160"/>
            <a:chExt cx="10104120" cy="987963"/>
          </a:xfrm>
        </p:grpSpPr>
        <p:sp>
          <p:nvSpPr>
            <p:cNvPr id="11" name="Rectangle 10"/>
            <p:cNvSpPr/>
            <p:nvPr/>
          </p:nvSpPr>
          <p:spPr>
            <a:xfrm>
              <a:off x="929640" y="3626601"/>
              <a:ext cx="91440" cy="91440"/>
            </a:xfrm>
            <a:prstGeom prst="rect">
              <a:avLst/>
            </a:prstGeom>
            <a:solidFill>
              <a:srgbClr val="D62B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58240" y="3535160"/>
              <a:ext cx="9875520" cy="987963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2000" b="0">
                  <a:solidFill>
                    <a:srgbClr val="171A1D"/>
                  </a:solidFill>
                  <a:latin typeface="Aptos"/>
                </a:defRPr>
              </a:pP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Anticipation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creates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value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beyond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fleet</a:t>
              </a:r>
              <a:r>
                <a:rPr lang="es-CL" dirty="0">
                  <a:solidFill>
                    <a:srgbClr val="C00000"/>
                  </a:solidFill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solidFill>
                    <a:srgbClr val="C00000"/>
                  </a:solidFill>
                  <a:latin typeface="Garamond" panose="02020404030301010803" pitchFamily="18" charset="0"/>
                </a:rPr>
                <a:t>capacity</a:t>
              </a:r>
              <a:r>
                <a:rPr lang="es-CL" dirty="0">
                  <a:latin typeface="Garamond" panose="02020404030301010803" pitchFamily="18" charset="0"/>
                </a:rPr>
                <a:t>. In </a:t>
              </a:r>
              <a:r>
                <a:rPr lang="es-CL" dirty="0" err="1">
                  <a:latin typeface="Garamond" panose="02020404030301010803" pitchFamily="18" charset="0"/>
                </a:rPr>
                <a:t>dynamic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freight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assignment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intertemporal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complementarities</a:t>
              </a:r>
              <a:r>
                <a:rPr lang="es-CL" dirty="0">
                  <a:latin typeface="Garamond" panose="02020404030301010803" pitchFamily="18" charset="0"/>
                </a:rPr>
                <a:t> can </a:t>
              </a:r>
              <a:r>
                <a:rPr lang="es-CL" dirty="0" err="1">
                  <a:latin typeface="Garamond" panose="02020404030301010803" pitchFamily="18" charset="0"/>
                </a:rPr>
                <a:t>make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individually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unprofitable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requests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worth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serving</a:t>
              </a:r>
              <a:r>
                <a:rPr lang="es-CL" dirty="0">
                  <a:latin typeface="Garamond" panose="02020404030301010803" pitchFamily="18" charset="0"/>
                </a:rPr>
                <a:t>, </a:t>
              </a:r>
              <a:r>
                <a:rPr lang="es-CL" dirty="0" err="1">
                  <a:latin typeface="Garamond" panose="02020404030301010803" pitchFamily="18" charset="0"/>
                </a:rPr>
                <a:t>even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when</a:t>
              </a:r>
              <a:r>
                <a:rPr lang="es-CL" dirty="0">
                  <a:latin typeface="Garamond" panose="02020404030301010803" pitchFamily="18" charset="0"/>
                </a:rPr>
                <a:t> </a:t>
              </a:r>
              <a:r>
                <a:rPr lang="es-CL" dirty="0" err="1">
                  <a:latin typeface="Garamond" panose="02020404030301010803" pitchFamily="18" charset="0"/>
                </a:rPr>
                <a:t>vehicles</a:t>
              </a:r>
              <a:r>
                <a:rPr lang="es-CL" dirty="0">
                  <a:latin typeface="Garamond" panose="02020404030301010803" pitchFamily="18" charset="0"/>
                </a:rPr>
                <a:t> are </a:t>
              </a:r>
              <a:r>
                <a:rPr lang="es-CL" dirty="0" err="1">
                  <a:latin typeface="Garamond" panose="02020404030301010803" pitchFamily="18" charset="0"/>
                </a:rPr>
                <a:t>abundant</a:t>
              </a:r>
              <a:r>
                <a:rPr lang="es-CL" dirty="0">
                  <a:latin typeface="Garamond" panose="02020404030301010803" pitchFamily="18" charset="0"/>
                </a:rPr>
                <a:t>.</a:t>
              </a:r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1472B93-EEA5-A148-52D5-874216C761E7}"/>
              </a:ext>
            </a:extLst>
          </p:cNvPr>
          <p:cNvGrpSpPr/>
          <p:nvPr/>
        </p:nvGrpSpPr>
        <p:grpSpPr>
          <a:xfrm>
            <a:off x="594360" y="5091629"/>
            <a:ext cx="10643616" cy="777240"/>
            <a:chOff x="475488" y="5129784"/>
            <a:chExt cx="10643616" cy="777240"/>
          </a:xfrm>
        </p:grpSpPr>
        <p:sp>
          <p:nvSpPr>
            <p:cNvPr id="13" name="Rounded Rectangle 12"/>
            <p:cNvSpPr/>
            <p:nvPr/>
          </p:nvSpPr>
          <p:spPr>
            <a:xfrm>
              <a:off x="475488" y="5129784"/>
              <a:ext cx="10469880" cy="777240"/>
            </a:xfrm>
            <a:prstGeom prst="roundRect">
              <a:avLst/>
            </a:prstGeom>
            <a:solidFill>
              <a:srgbClr val="E7F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8660" y="5285721"/>
              <a:ext cx="10410444" cy="433965"/>
            </a:xfrm>
            <a:prstGeom prst="rect">
              <a:avLst/>
            </a:prstGeom>
            <a:noFill/>
          </p:spPr>
          <p:txBody>
            <a:bodyPr wrap="square" lIns="18288" tIns="18288">
              <a:spAutoFit/>
            </a:bodyPr>
            <a:lstStyle/>
            <a:p>
              <a:pPr>
                <a:spcAft>
                  <a:spcPts val="800"/>
                </a:spcAft>
                <a:defRPr sz="1700" b="0">
                  <a:solidFill>
                    <a:srgbClr val="171A1D"/>
                  </a:solidFill>
                  <a:latin typeface="Aptos"/>
                </a:defRPr>
              </a:pPr>
              <a:r>
                <a:rPr sz="2400" dirty="0">
                  <a:latin typeface="Garamond" panose="02020404030301010803" pitchFamily="18" charset="0"/>
                </a:rPr>
                <a:t>Next question: how can these mechanisms be combined in a freight decision system?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9572FC6-62E8-F7B6-150D-9CE3AE067B5A}"/>
              </a:ext>
            </a:extLst>
          </p:cNvPr>
          <p:cNvSpPr txBox="1"/>
          <p:nvPr/>
        </p:nvSpPr>
        <p:spPr>
          <a:xfrm>
            <a:off x="847946" y="2289659"/>
            <a:ext cx="7413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>
                <a:latin typeface="Garamond" panose="02020404030301010803" pitchFamily="18" charset="0"/>
              </a:rPr>
              <a:t>Scan </a:t>
            </a:r>
            <a:r>
              <a:rPr lang="es-CL" sz="2400" dirty="0" err="1">
                <a:latin typeface="Garamond" panose="02020404030301010803" pitchFamily="18" charset="0"/>
              </a:rPr>
              <a:t>to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access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presentations</a:t>
            </a:r>
            <a:r>
              <a:rPr lang="es-CL" sz="2400" dirty="0">
                <a:latin typeface="Garamond" panose="02020404030301010803" pitchFamily="18" charset="0"/>
              </a:rPr>
              <a:t>, </a:t>
            </a:r>
            <a:r>
              <a:rPr lang="es-CL" sz="2400" dirty="0" err="1">
                <a:latin typeface="Garamond" panose="02020404030301010803" pitchFamily="18" charset="0"/>
              </a:rPr>
              <a:t>research</a:t>
            </a:r>
            <a:r>
              <a:rPr lang="es-CL" sz="2400" dirty="0">
                <a:latin typeface="Garamond" panose="02020404030301010803" pitchFamily="18" charset="0"/>
              </a:rPr>
              <a:t> and </a:t>
            </a:r>
            <a:r>
              <a:rPr lang="es-CL" sz="2400" dirty="0" err="1">
                <a:latin typeface="Garamond" panose="02020404030301010803" pitchFamily="18" charset="0"/>
              </a:rPr>
              <a:t>contact</a:t>
            </a:r>
            <a:r>
              <a:rPr lang="es-CL" sz="2400" dirty="0">
                <a:latin typeface="Garamond" panose="02020404030301010803" pitchFamily="18" charset="0"/>
              </a:rPr>
              <a:t> </a:t>
            </a:r>
            <a:r>
              <a:rPr lang="es-CL" sz="2400" dirty="0" err="1">
                <a:latin typeface="Garamond" panose="02020404030301010803" pitchFamily="18" charset="0"/>
              </a:rPr>
              <a:t>details</a:t>
            </a:r>
            <a:r>
              <a:rPr lang="es-CL" sz="2400" dirty="0">
                <a:latin typeface="Garamond" panose="02020404030301010803" pitchFamily="18" charset="0"/>
              </a:rPr>
              <a:t>:</a:t>
            </a:r>
          </a:p>
        </p:txBody>
      </p:sp>
      <p:pic>
        <p:nvPicPr>
          <p:cNvPr id="5" name="Picture 1" descr="uai.png">
            <a:extLst>
              <a:ext uri="{FF2B5EF4-FFF2-40B4-BE49-F238E27FC236}">
                <a16:creationId xmlns:a16="http://schemas.microsoft.com/office/drawing/2014/main" id="{D1AB1A02-00D6-3FDB-9165-0C22D595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132320" cy="16154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5255F6-2922-C293-29F3-9DFC688A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88" y="2890283"/>
            <a:ext cx="3135423" cy="313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90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58FCF51F-9FE0-1FAA-C2D5-1D7A9256C36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3FA12FC8-1A9A-3CA4-060C-19D2B8B7D612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6D675AFC-78E0-A164-E79B-DFAEEE16A692}"/>
                  </a:ext>
                </a:extLst>
              </p:cNvPr>
              <p:cNvSpPr/>
              <p:nvPr/>
            </p:nvSpPr>
            <p:spPr>
              <a:xfrm>
                <a:off x="0" y="0"/>
                <a:ext cx="2286000" cy="685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0423588F-6DBA-6F76-F147-FA04ED8344DD}"/>
                  </a:ext>
                </a:extLst>
              </p:cNvPr>
              <p:cNvSpPr/>
              <p:nvPr/>
            </p:nvSpPr>
            <p:spPr>
              <a:xfrm>
                <a:off x="9906000" y="0"/>
                <a:ext cx="2286000" cy="685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pic>
            <p:nvPicPr>
              <p:cNvPr id="5" name="clusters_Teselación_H3_Manhattan.mp4">
                <a:hlinkClick r:id="" action="ppaction://media"/>
                <a:extLst>
                  <a:ext uri="{FF2B5EF4-FFF2-40B4-BE49-F238E27FC236}">
                    <a16:creationId xmlns:a16="http://schemas.microsoft.com/office/drawing/2014/main" id="{493427F1-47AC-11D3-97DE-9054796BB638}"/>
                  </a:ext>
                </a:extLst>
              </p:cNvPr>
              <p:cNvPicPr>
                <a:picLocks noChangeAspect="1"/>
              </p:cNvPicPr>
              <p:nvPr>
                <a:videoFile r:link="rId2"/>
                <p:extLst>
                  <p:ext uri="{DAA4B4D4-6D71-4841-9C94-3DE7FCFB9230}">
                    <p14:media xmlns:p14="http://schemas.microsoft.com/office/powerpoint/2010/main" r:embed="rId1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2286000" y="0"/>
                <a:ext cx="7620000" cy="6858000"/>
              </a:xfrm>
              <a:prstGeom prst="rect">
                <a:avLst/>
              </a:prstGeom>
            </p:spPr>
          </p:pic>
        </p:grpSp>
        <p:sp>
          <p:nvSpPr>
            <p:cNvPr id="6" name="Rombo 5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F0227EE6-37E8-2C72-5D6F-2CEC3B9D39D5}"/>
                </a:ext>
              </a:extLst>
            </p:cNvPr>
            <p:cNvSpPr/>
            <p:nvPr/>
          </p:nvSpPr>
          <p:spPr>
            <a:xfrm>
              <a:off x="10122195" y="6049926"/>
              <a:ext cx="350875" cy="404037"/>
            </a:xfrm>
            <a:prstGeom prst="diamond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63266828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 el momento exacto en que comenzó el aluvión en San Carlos de Apoquindo _ 24 Horas TVN Chile.mp4">
            <a:hlinkClick r:id="" action="ppaction://media"/>
            <a:extLst>
              <a:ext uri="{FF2B5EF4-FFF2-40B4-BE49-F238E27FC236}">
                <a16:creationId xmlns:a16="http://schemas.microsoft.com/office/drawing/2014/main" id="{9901A382-753E-EAF8-047F-DC1D5A0BF8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riángulo 3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18955020-0FC4-31BC-BBEF-552B4CBB3E6B}"/>
              </a:ext>
            </a:extLst>
          </p:cNvPr>
          <p:cNvSpPr/>
          <p:nvPr/>
        </p:nvSpPr>
        <p:spPr>
          <a:xfrm>
            <a:off x="11270511" y="5231219"/>
            <a:ext cx="457200" cy="435935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398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1023</Words>
  <Application>Microsoft Macintosh PowerPoint</Application>
  <PresentationFormat>Panorámica</PresentationFormat>
  <Paragraphs>109</Paragraphs>
  <Slides>23</Slides>
  <Notes>0</Notes>
  <HiddenSlides>3</HiddenSlides>
  <MMClips>2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Garamond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Rodrigo Garrido Hidalgo</cp:lastModifiedBy>
  <cp:revision>26</cp:revision>
  <cp:lastPrinted>2026-10-15T21:31:18Z</cp:lastPrinted>
  <dcterms:created xsi:type="dcterms:W3CDTF">2013-01-27T09:14:16Z</dcterms:created>
  <dcterms:modified xsi:type="dcterms:W3CDTF">2026-10-15T22:03:18Z</dcterms:modified>
  <cp:category/>
</cp:coreProperties>
</file>